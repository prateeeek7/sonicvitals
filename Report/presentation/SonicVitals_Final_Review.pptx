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53f3a7-c1fd-3b40-e25c-c8ff174a2027}">
          <p14:sldIdLst>
            <p14:sldId id="256"/>
            <p14:sldId id="257"/>
            <p14:sldId id="258"/>
            <p14:sldId id="259"/>
          </p14:sldIdLst>
        </p14:section>
        <p14:section name="Background" id="{b04fb79d-8b93-c31f-172d-5ae5737fc291}">
          <p14:sldIdLst>
            <p14:sldId id="260"/>
            <p14:sldId id="261"/>
          </p14:sldIdLst>
        </p14:section>
        <p14:section name="System design" id="{2c859802-f569-04b4-d17a-d414838bf014}">
          <p14:sldIdLst>
            <p14:sldId id="262"/>
            <p14:sldId id="263"/>
            <p14:sldId id="264"/>
          </p14:sldIdLst>
        </p14:section>
        <p14:section name="Methodology" id="{cd080e26-1f64-9712-46fb-4bf3c0fe713f}">
          <p14:sldIdLst>
            <p14:sldId id="265"/>
            <p14:sldId id="266"/>
          </p14:sldIdLst>
        </p14:section>
        <p14:section name="Implementation" id="{becd5027-e815-7cd1-f3e5-7cf46916d03a}">
          <p14:sldIdLst>
            <p14:sldId id="267"/>
            <p14:sldId id="268"/>
          </p14:sldIdLst>
        </p14:section>
        <p14:section name="Results" id="{92b0ecd8-61b7-f65d-3db1-7804689c06d0}">
          <p14:sldIdLst>
            <p14:sldId id="269"/>
            <p14:sldId id="270"/>
            <p14:sldId id="271"/>
          </p14:sldIdLst>
        </p14:section>
        <p14:section name="Conclusion" id="{d84b11ea-1463-9e3b-ee75-103166087f0c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guide. One-line summary: a low-cost ESP32-S3 node that captures camera video and heart sounds on one clock, and a host pipeline that estimates heart rate and breathing without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structure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rPPG and PCG in one sentence each, and why combining them helps: they fail for different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for one healthy person an oximeter is better. Contactless matters where contact is the problem. Existing contactless options are closed apps or expensive radar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Optical methods progressed from green channel to ICA to CHROM/POS to deep learning, all camera-only and mostly desktop. Heart-sound processing assumes a chest stethoscope. Colour screening needs calibration. Compression and skin type limit low-cost cameras.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camera-only, unsynchronised multimodal setups, and no reliability reporting. Our six objectives map directly onto the system we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tiers: node, host, browser. The node timestamps everything with one clock and streams over Wi-Fi TCP; the host processes and serves the dashboard and sends results back to the OLED every 1.5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Components and their roles; camera pins follow the ESP32-S3-EYE map. The key hardware finding is the pin conflict between the mic and the USB-serial bridge, which forced Wi-Fi streaming.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cores split audio and video so neither blocks the other. The text protocol carries sequence numbers and microsecond timestamps; the length field and sequence numbers detect corrupt or missing data. Five real problems and their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left to right, then CHROM. Mention resampling because Wi-Fi frames arrive unevenly, filtfilt for zero phase, Welch for a low-variance spectrum, and the SNR gate that shows '--' instead of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Shannon energy emphasises medium-intensity sounds; autocorrelation uses the periodicity of the whole window so it is robust to missed beats. Fusion only averages when both channels agree within 8 BPM.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host software is modular; the same DSP code runs live and offline. The dashboard has four main tabs. Screenshots are from the prototype; a live demo is best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sharpest gated frame is analysed in five facial regions. These are screening indicators, not diagnoses; the main limitation is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real hardware. Moving capture into a fixed-rate task with timestamps at capture cut jitter from 310 ms to 0.4 ms. Final link: 8 fps evenly spaced, zero frames or audio blocks lost.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verified: algorithms on synthetic signals with known answers, the noise gate, and gap bridging. Clinical accuracy is not yet measured; the protocol and tools are ready. Do not claim accuracy numbers until the study is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distinguishing features are the synchronised two-sensor node, openness and quality reporting. The honest weakness versus commercial devices is validated accuracy, which is our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limitations before the panel does; each has a concrete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outcomes. Close with: next step is the ECG-referenced validation study.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list in the project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guide and panel; invite questions; offer a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96012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SonicVitals · Final Review · SENSE, VIT Vellore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FINAL PROJECT REVIEW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96012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SonicVitals: A Low-Cost ESP32-S3 Platform for Synchronized Camera-Based Photoplethysmography and Acoustic Cardiac Sensing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Team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661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Pratik Kumar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Uday Krishan Khandelwal</a:t>
            </a:r>
            <a:endParaRPr lang="en-US" sz="1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Janvhee Dhote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Faculty Guide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35661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Jeeva J. B.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29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of Electronics Engineering (SENSE), Vellore Institute of Technology, Vellore  ·  October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1737360"/>
            <a:ext cx="4343400" cy="2331720"/>
          </a:xfrm>
          <a:prstGeom prst="roundRect">
            <a:avLst>
              <a:gd name="adj" fmla="val 3922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pic>
        <p:nvPicPr>
          <p:cNvPr id="10" name="Image 0" descr="/Users/pratikkumar/Desktop/SEM5 Projects/SonicVitals/Report/presentation/assets/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901952"/>
            <a:ext cx="4069080" cy="194413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7360920" y="420624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Bench prototype: ESP32-S3 + GC2145 camera + INMP441 microphones + SSD1306 OLED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Outline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3258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Introduction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9293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2938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Problem statement and motivation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328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Literature survey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136392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1363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Research gap and objectives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3739896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7398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System architecture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343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Hardware and pin mapping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48640" y="494690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9469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Firmware design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5504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55504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Methodology: optical rPPG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172200" y="132588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72200" y="1325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132588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Methodology: acoustic, respiration, fusion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172200" y="1929384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172200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192938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Software and dashboard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172200" y="253288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11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25328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Exploratory colour screening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6172200" y="3136392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72200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12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313639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Results: system performance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6172200" y="3739896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72200" y="37398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13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373989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Results: algorithm verification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6172200" y="4343400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7220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14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0" y="43434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Comparison with existing work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172200" y="4946904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7220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15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766560" y="494690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Limitations and future work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6172200" y="555040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72200" y="5550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16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766560" y="555040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Conclusion and references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Heart rate (HR) and respiratory rate (RR) are the most frequently recorded vital signs.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They are normally measured with contact sensors: ECG electrodes, finger PPG clips, chest belts.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Contact sensing is reliable, but uncomfortable for long recordings, unsuitable for fragile or burned skin, and a cross-infection risk.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motivates contactless measurement using a camera and sound.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355080" y="1325880"/>
            <a:ext cx="5257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15544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1579" y="1708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6092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Remote photoplethysmography (rPPG)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80136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Each heartbeat pushes blood into skin capillaries; haemoglobin absorbs green light, so skin colour changes by 0.1–1 %. Averaging thousands of skin pixels in video recovers the pulse.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2971800"/>
            <a:ext cx="5257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33540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Phonocardiography (PCG)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360920" y="344728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Heart valves closing produce the S1 ("lub") and S2 ("dub") sounds at 20–150 Hz; their period gives the heart rate.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55080" y="4617720"/>
            <a:ext cx="525780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37960" y="4846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579" y="49999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60920" y="4754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Why combine both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360920" y="5093208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Camera and sound fail for different physical reasons (motion and light vs. noise), so they can check each other.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892040"/>
            <a:ext cx="5486400" cy="1234440"/>
          </a:xfrm>
          <a:prstGeom prst="roundRect">
            <a:avLst>
              <a:gd name="adj" fmla="val 7407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489204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Key idea: </a:t>
            </a:r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cheap node captures both signals on the same clock, and the host estimates and cross-checks the vital signs.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Problem statement and motivation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Problem: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Monitor HR and RR without touching the person, using low-cost hardware, and know when a reading cannot be trusted.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needs contactless monitoring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3068726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89864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Elderly and bedridden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3227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People with dementia pull clips and straps off.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41202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9502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Fragile skin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42793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Newborns and burn patients: adhesive sensors can injure skin.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50292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171846"/>
            <a:ext cx="309067" cy="30906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50017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Shared screening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5330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Health rooms and kiosks without a shared finger clip.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172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exists today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926080"/>
          <a:ext cx="5440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3444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Finger pulse oximeter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₹500–1,500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Needs contact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Smartwatch / band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₹2,000+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Must be worn and charged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Face-scan phone apps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App / licence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Closed; someone holds the phone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Radar / under-mattress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₹10,000+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 purpose, closed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Literature survey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743200"/>
                <a:gridCol w="3154680"/>
                <a:gridCol w="28346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Contribution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Limitation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Verkruysse et al., 2008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Green-channel rPPG, ambient light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First pulse signal from a consumer camera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Sensitive to motion and light changes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Poh et al., 2010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ICA blind source separation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Automated webcam HR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a still subject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 Haan &amp; Jeanne, 2013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CHROM chrominance projection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Cancels motion/specular component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Assumes standard skin-tone model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Wang et al., 2017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 projection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Unified algorithmic principles of rPPG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Desktop processing; camera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Chen &amp; McDuff, 2018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DeepPhys CNN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Learned motion-robust pulse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training data and a GPU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Villarroel et al., 2019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Video monitoring in NICU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Clinical feasibility in neonates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Costly camera setup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Liang 1997; Springer 2016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Shannon envelope; HSMM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Robust S1/S2 heart-sound segmentation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a chest-contact stethoscope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Mariakakis et al., 2017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BiliScreen scleral colour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Phone-based jaundice screening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a calibration accessory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McDuff 2017; Nowara 2020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Compression; skin-type meta-analysis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Compression and darker skin lower rPPG SNR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Known limits for low-cost cameras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Research gap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Research gap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rPPG systems are camera-only: no independent check when motion or light corrupts the signal.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Multimodal studies use separate devices with unsynchronised clocks, on desktop or GPU platforms.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Few systems report when a reading is unreliable; many display a number regardless.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Little documentation of what a very low-cost embedded camera can and cannot do.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172200" y="17373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72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20840" y="16916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Design an ESP32-S3 node that captures video and audio with one microsecond time base.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4688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4231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Stream both reliably to a host over Wi-Fi with integrity checks.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315468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 HR and RR by CHROM rPPG with a face-validity gate.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39319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88620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 HR from heart sounds and fuse both with an agreement gate.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46634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46177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live dashboard with recording and exploratory colour screening.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53949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72200" y="5394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534924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 algorithms and the link quantitatively; define a validation protocol.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Proposed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749040" cy="493776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EDGE NODE · ESP32-S3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1890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9385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Camera task (core 1)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GC2145 · 8 fps fixed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software JPEG · 3 s PSRAM ring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301752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4" y="337779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Audio task (core 0)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54480" y="3447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INMP441 I²S 16 kHz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63-tap FIR → 4 kHz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31520" y="4206240"/>
            <a:ext cx="338328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4434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4" y="45665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4315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SSD1306 OLED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636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HR · RR · status · IP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5486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Each packet: µs timestamp + sequence no.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40680" y="1234440"/>
            <a:ext cx="3749040" cy="4937760"/>
          </a:xfrm>
          <a:prstGeom prst="roundRect">
            <a:avLst>
              <a:gd name="adj" fmla="val 2439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66928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HOST · Python (Flask, OpenCV, SciPy)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5623560" y="1828800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5806440" y="1920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Optical rPPG engine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806440" y="22677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face gate · CHROM · Welch spectrum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623560" y="2852928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80644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Acoustic PCG engine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0644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Shannon envelope · autocorrelation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623560" y="3877056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5806440" y="39684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Fusion + quality gates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580644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agree ≤ 8 BPM · SNR ≥ 0 dB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623560" y="4901184"/>
            <a:ext cx="3383280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5806440" y="49926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Session recorder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5806440" y="53400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CSV + WAV for offline evaluation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058400" y="1828800"/>
            <a:ext cx="1554480" cy="2286000"/>
          </a:xfrm>
          <a:prstGeom prst="roundRect">
            <a:avLst>
              <a:gd name="adj" fmla="val 5882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10515600" y="20574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9219" y="2211019"/>
            <a:ext cx="332842" cy="332842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0149840" y="2834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Web dashboard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10149840" y="3200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video · vitals · waveforms · diagnostics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4297680" y="2423160"/>
            <a:ext cx="114300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Text 35"/>
          <p:cNvSpPr txBox="1"/>
          <p:nvPr/>
        </p:nvSpPr>
        <p:spPr>
          <a:xfrm>
            <a:off x="4343400" y="2011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Wi-Fi TCP :3333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4343400" y="24963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video + audio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 flipH="1">
            <a:off x="4297680" y="4434840"/>
            <a:ext cx="11430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44" name="Text 38"/>
          <p:cNvSpPr txBox="1"/>
          <p:nvPr/>
        </p:nvSpPr>
        <p:spPr>
          <a:xfrm>
            <a:off x="4343400" y="450799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VITALS every 1.5 s</a:t>
            </a:r>
            <a:endParaRPr lang="en-US" sz="1100" dirty="0"/>
          </a:p>
        </p:txBody>
      </p:sp>
      <p:sp>
        <p:nvSpPr>
          <p:cNvPr id="45" name="Shape 39"/>
          <p:cNvSpPr/>
          <p:nvPr/>
        </p:nvSpPr>
        <p:spPr>
          <a:xfrm>
            <a:off x="9189720" y="2971800"/>
            <a:ext cx="86868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6" name="Text 40"/>
          <p:cNvSpPr txBox="1"/>
          <p:nvPr/>
        </p:nvSpPr>
        <p:spPr>
          <a:xfrm>
            <a:off x="9189720" y="30632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HTTP JSON + MJPEG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Hardware components and pin mapping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71800"/>
                <a:gridCol w="187452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Key specifications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ESP32-S3 (camera board)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× Xtensa LX7 @ 240 MHz, 512 KB SRAM, 8 MB PSRAM, Wi-Fi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Acquisition, timestamps, streaming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GC2145 camera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MP CMOS, DVP 8-bit, used at 240×160 RGB565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Facial video for rPPG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INMP441 microphone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I²S MEMS, 24-bit, 61 dBA SNR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Heart sounds (chest)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SSD1306 OLED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0.96", 128×64, I²C 400 kHz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Local readout of vitals and IP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Host laptop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Python 3, Flask, OpenCV, NumPy/SciPy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Signal processing, dashboard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Signal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GPIO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 XCLK / PCLK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 / 13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 VSYNC / HREF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 / 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 SCCB SDA / SCL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 / 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Camera D0–D7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11, 9, 8, 10, 12, 18, 17, 16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Mic I²S SCK / WS / SD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 / 44 /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OLED SDA / SCL (0x3C)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47 / 48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77240" y="51206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5296205"/>
            <a:ext cx="380390" cy="38039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91640" y="49377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Pin conflict found during integration: 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the mic's I²S lines (GPIO43/44) are also UART0, wired to the board's only USB-serial chip (CH340). With the mic on, the USB link dies, and GPIO0 is a boot-strapping pin. Solution: stream over Wi-Fi and use USB only for power and flashing.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Firmware design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FreeRTOS tasks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Core 0 · audio task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I²S DMA read → 63-tap FIR anti-alias → decimate 16 → 4 kHz → queue (2 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791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Core 1 · camera task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71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Capture at fixed 8 fps → software JPEG (q 60) → 24-slot PSRAM ring (≈3 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4864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5478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 loop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840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Send frames/audio, parse host commands, refresh OLED, OLED hot-plug check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Line protocol (v2)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5486400" cy="1280160"/>
          </a:xfrm>
          <a:prstGeom prst="roundRect">
            <a:avLst>
              <a:gd name="adj" fmla="val 7143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493776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&lt;&lt;HELLO:SonicVitals,2,wifi,mic,...&gt;&gt;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&lt;&lt;FRAME_START:seq,t_us,len&gt;&gt; base64 JPEG &lt;&lt;FRAME_END&gt;&gt;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&lt;&lt;AUDIO:seq,t_us,n,base64 PCM&gt;&gt;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&lt;&lt;STAT:fps,frames,drops,...&gt;&gt;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→ node: &lt;&lt;VITALS:HR,RR,SpO2,Q,STATUS&gt;&gt;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Engineering problems solved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474" y="1914754"/>
            <a:ext cx="285293" cy="285293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132320" y="1737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hardware JPEG on GC2145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132320" y="20665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Driver rejects JPEG mode → capture RGB565, compress in software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0" y="2670048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2801722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7132320" y="2624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Auto-exposure hides the pulse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7132320" y="29535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Lock exposure, gain, white balance after 3 s of settling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00800" y="355701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474" y="3688690"/>
            <a:ext cx="285293" cy="28529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35112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Hotspot throughput ≈ 70 kB/s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7132320" y="38404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8 fps target, audio decimated to 4 kHz, PSRAM buffer for stalls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0" y="4443984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4575658"/>
            <a:ext cx="285293" cy="285293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132320" y="43982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Uneven frame timing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7132320" y="47274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Fixed-rate capture task; timestamp taken at capture, not on send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6400800" y="533095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474" y="5462626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132320" y="52852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Board reset while flashing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7132320" y="56144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Host never toggles DTR/RTS; Wi-Fi-only link mode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Methodology I: optical rPPG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Face gate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Haar cascade + 5 checks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49424" y="184708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3288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Skin colour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3288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forehead + cheeks mean R,G,B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23944" y="184708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0740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Resample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0740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timestamps → 15 Hz grid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98464" y="184708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8192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CHROM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 = X − αY cancels motion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872984" y="184708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5644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Band-pass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5644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0.75–2.5 Hz Butterworth, zero-phase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47504" y="1847088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92124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30968" y="137160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30968" y="1737360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Welch peak, tracked; shown if SNR ≥ 0 dB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269748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CHROM (de Haan &amp; Jeanne, 2013)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329184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Rₙ, Gₙ, Bₙ = channel ÷ its window mean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3Rₙ − 2Gₙ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1.5Rₙ + Gₙ − 1.5Bₙ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X − α·Y,   α = σ(X) / σ(Y)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= 60 · f₀  (Welch peak in 0.75–2.5 Hz)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120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X and Y both carry the motion/specular term; subtracting αY cancels it and leaves the pulse.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0" y="2697480"/>
            <a:ext cx="53949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4652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Parameters and quality control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329184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Face gate: edge clearance, size 20–88 %, aspect 0.65–1.30, ROIs in frame, light ≥ 15 and balanced.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Welch: 256-sample Hann segments, 50 % overlap, FFT 4096, parabolic peak interpolation.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SNR (de Haan): power at f₀ and 2f₀ vs. rest of 0.5–4 Hz; gate 0 dB (noise passes ≈ 5 %).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Warm-up 10 s, buffer 30 s, update 0.5 s; gaps ≤ 2 s bridged.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Peak tracking ±12 BPM around last accepted HR.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Methodology II: acoustic, respiration and fusion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ACOUSTIC · heart sounds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Band-pass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25–400 Hz, 4th order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15184" y="2057400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98064" y="16002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07792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Resample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01168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 1 kHz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64608" y="2057400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47488" y="16002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57216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Shannon envelope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201168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−x² log x², 20 ms smoothing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14032" y="2057400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96912" y="16002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0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Autocorrelation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01168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lag τ in 0.4–1.33 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63456" y="2057400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46336" y="1600200"/>
            <a:ext cx="205740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56064" y="1673352"/>
            <a:ext cx="1837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HR = 60/τ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56064" y="2011680"/>
            <a:ext cx="1837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shown if ρ ≥ 0.3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3216859"/>
            <a:ext cx="332842" cy="33284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60020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Respiration (camera)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1600200" y="326440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Green channel band-passed 0.15–0.40 Hz (9–24 breaths/min); Welch peak f_r → RR = 60·f_r. Needs a 15 s segment and ≥ 50 % of low-frequency power at the peak, else "--".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172200" y="278892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3063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419" y="3216859"/>
            <a:ext cx="332842" cy="332842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7223760" y="2926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HRV (heart sounds)</a:t>
            </a:r>
            <a:endParaRPr lang="en-US" sz="1500" dirty="0"/>
          </a:p>
        </p:txBody>
      </p:sp>
      <p:sp>
        <p:nvSpPr>
          <p:cNvPr id="32" name="Text 28"/>
          <p:cNvSpPr txBox="1"/>
          <p:nvPr/>
        </p:nvSpPr>
        <p:spPr>
          <a:xfrm>
            <a:off x="7223760" y="326440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S1 peaks on the Hilbert envelope → inter-beat intervals → RMSSD = √mean(ΔIBI²). Needs ≥ 20 clean intervals.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48640" y="448056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77240" y="4754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4908499"/>
            <a:ext cx="332842" cy="332842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60020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Quality-weighted fusion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1600200" y="495604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If |HR_cam − HR_snd| ≤ 8 BPM: HR = (w_cam·HR_cam + w_snd·HR_snd)/(w_cam + w_snd), w_cam = Q, w_snd = ρ. Otherwise use the better channel and flag a conflict.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6172200" y="4480560"/>
            <a:ext cx="544068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400800" y="47548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4908499"/>
            <a:ext cx="332842" cy="332842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7223760" y="4617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Display stabilisation</a:t>
            </a:r>
            <a:endParaRPr lang="en-US" sz="1500" dirty="0"/>
          </a:p>
        </p:txBody>
      </p:sp>
      <p:sp>
        <p:nvSpPr>
          <p:cNvPr id="42" name="Text 36"/>
          <p:cNvSpPr txBox="1"/>
          <p:nvPr/>
        </p:nvSpPr>
        <p:spPr>
          <a:xfrm>
            <a:off x="7223760" y="4956048"/>
            <a:ext cx="4251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Median of last 3 fused values, then EMA; last value held ≤ 15 s while re-acquiring; "--" when no channel passes its 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Software implementation and dashboard</a:t>
            </a:r>
            <a:endParaRPr lang="en-US" sz="3200" dirty="0"/>
          </a:p>
        </p:txBody>
      </p:sp>
      <p:pic>
        <p:nvPicPr>
          <p:cNvPr id="3" name="Image 0" descr="/Users/pratikkumar/Desktop/SEM5 Projects/SonicVitals/Report/presentation/assets/dash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931920" cy="3315278"/>
          </a:xfrm>
          <a:prstGeom prst="rect">
            <a:avLst/>
          </a:prstGeom>
        </p:spPr>
      </p:pic>
      <p:pic>
        <p:nvPicPr>
          <p:cNvPr id="4" name="Image 1" descr="/Users/pratikkumar/Desktop/SEM5 Projects/SonicVitals/Report/presentation/assets/dash_bv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3931920" cy="1236453"/>
          </a:xfrm>
          <a:prstGeom prst="rect">
            <a:avLst/>
          </a:prstGeom>
        </p:spPr>
      </p:pic>
      <p:pic>
        <p:nvPicPr>
          <p:cNvPr id="5" name="Image 2" descr="/Users/pratikkumar/Desktop/SEM5 Projects/SonicVitals/Report/presentation/assets/ps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234440"/>
            <a:ext cx="3931920" cy="173136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54880" y="30632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Live camera view with face gate (green) and skin ROI; recovered pulse wave (below); pulse spectrum (right).</a:t>
            </a:r>
            <a:endParaRPr lang="en-US" sz="1200" dirty="0"/>
          </a:p>
        </p:txBody>
      </p:sp>
      <p:sp>
        <p:nvSpPr>
          <p:cNvPr id="7" name="Shape 2"/>
          <p:cNvSpPr/>
          <p:nvPr/>
        </p:nvSpPr>
        <p:spPr>
          <a:xfrm>
            <a:off x="8961120" y="1234440"/>
            <a:ext cx="2651760" cy="489204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9144000" y="1371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Modules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44000" y="1783080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usb_streamer.py: link, Flask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rppg_engine.py: face gate, ROI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vitals_dsp.py: shared DSP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acoustic_engine.py: PCG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recorder.py: sessions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evaluate.py: offline stats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Frontend: HTML/JS + Plotly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9144000" y="5120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31 automated tests (pytest) + a node simulator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4754880" y="3931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live vitals, waveforms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475488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Signal analysis: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PSD, spectrogram, bands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75488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Diagnostics: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colour indices (exploratory)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5577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Experiments: </a:t>
            </a:r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session recording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Exploratory colour screening (Diagnostics Studio)</a:t>
            </a:r>
            <a:endParaRPr lang="en-US" sz="3200" dirty="0"/>
          </a:p>
        </p:txBody>
      </p:sp>
      <p:pic>
        <p:nvPicPr>
          <p:cNvPr id="3" name="Image 0" descr="/Users/pratikkumar/Desktop/SEM5 Projects/SonicVitals/Report/presentation/assets/ro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0" cy="3437594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234440"/>
          <a:ext cx="61722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143000"/>
                <a:gridCol w="233172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Index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ROI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Formula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Indicates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Erythema EI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Forehead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 (log R − log G)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Perfusion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Pallor PI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Cheeks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(G + B) / 2R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Low haemoglobin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Yellowness YI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Eye band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 (R + G − 2B) / (R + G + B)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Bilirubin (jaundice)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Cyanosis CR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Lips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 / 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Deoxygenation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Symmetry HFI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Both cheeks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100 |G_L − G_R| / (G_L + G_R)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Perfusion asymmetry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Sharpness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Whole frame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Variance of Laplacian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selection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40680" y="4937760"/>
            <a:ext cx="61722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623560" y="4983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Exploratory only.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Uncalibrated RGB indices depend on lighting, white balance and skin tone (e.g. warm light raises YI). Reliable use needs a colour reference card and validation against blood tests.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I: system performance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1005840"/>
                <a:gridCol w="1005840"/>
                <a:gridCol w="914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Configuration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Host fps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Jitter SD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Frame loss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Audio loss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Wi-Fi, first firmware (3-min session)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5.1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310 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0.66 %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USB-serial 1 Mbaud, mic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15.5 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1.0 % rejected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mic off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Wi-Fi, fixed-rate capture (final, 30 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8.0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0.4 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3840480"/>
            <a:ext cx="676656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Frame-timing jitter (SD)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First Wi-Fi firmware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4425696"/>
            <a:ext cx="3657600" cy="29260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4389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310 ms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937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USB-serial 1 Mbaud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4974336"/>
            <a:ext cx="182880" cy="292608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4640" y="4937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15.5 ms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86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Fixed-rate capture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560320" y="5522976"/>
            <a:ext cx="45720" cy="29260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5486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0.4 ms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680960" y="128016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90956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775×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790956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steadier frame timing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909560" y="2359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310 ms → 0.4 ms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680960" y="292608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0956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 fps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3703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evenly spaced at host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909560" y="40050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&gt; 5 fps Nyquist for 150 BPM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680960" y="4572000"/>
            <a:ext cx="393192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09560" y="47091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7909560" y="5349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frames or audio blocks lost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56509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verified by sequence numbers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II: algorithm verification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±2 BPM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Optical HR on synthetic signals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52, 78 and 128 BPM with irregular 6–11 fps frame timing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5 %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965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Noise passing the SNR gate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pure-noise test, 10–30 s windows; target ≤ 6 %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→ 6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Buffer restarts in 3 min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replay of a recorded session after 2 s gap bridging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269748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3172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31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Automated tests pass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DSP, PCG, protocol, engine, server, recorder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37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Findings on real recordings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First-firmware optical estimates had SNR −6 to −3 dB, i.e. at noise level, which motivated the SNR gate.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Heart sounds through air were weak (ρ ≤ 0.18; 99.5 % of power &lt; 25 Hz): the mic must touch the chest.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280160"/>
            <a:ext cx="5257800" cy="4846320"/>
          </a:xfrm>
          <a:prstGeom prst="roundRect">
            <a:avLst>
              <a:gd name="adj" fmla="val 1887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46304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7299" y="1616659"/>
            <a:ext cx="332842" cy="33284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406640" y="157276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Clinical validation: planned protocol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0" y="228600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References: chest-strap ECG (HR, R–R), finger pulse oximeter, metronome-paced breathing.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Conditions C1–C5: rest, talking, small motion, low light, distance.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30 s windows; development and test participants kept separate.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Metrics: MAE, RMSE, Pearson r, Bland–Altman bias and 95 % limits (repeated measures).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Acceptance: AAMI EC13, error ≤ 5 BPM or 10 %.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Tooling ready: session recorder + analysis/evaluate.py.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486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HR / RR accuracy against references has not been measured yet.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Comparison with existing work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1280160"/>
                <a:gridCol w="1737360"/>
                <a:gridCol w="1188720"/>
                <a:gridCol w="1371600"/>
                <a:gridCol w="13716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Contactless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Heart sounds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Synchronised single node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Open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Quality gate shown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Validated accuracy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Finger pulse oximeter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Smartwatch / chest strap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Face-scan phone apps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vendor claims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rPPG research (CHROM, POS, DeepPhys)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on datasets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Electronic stethoscope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✗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SonicVitals (this work)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planned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5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✓ yes   ✗ no   ~ partial   — not applicable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Positioning: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a replacement for an oximeter, but a low-cost open platform for contactless, cross-checked monitoring.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3716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LIMITATION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309360" y="1234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78198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184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 reference validation yet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577840" y="192938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6309360" y="161848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ECG-strap study with Bland–Altman and AAMI EC13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5592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39572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Needs ambient light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577840" y="270662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6309360" y="239572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IR LED + IR-sensitive camera for night monitoring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3364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1729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Motion and lighting changes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577840" y="348386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Text 14"/>
          <p:cNvSpPr txBox="1"/>
          <p:nvPr/>
        </p:nvSpPr>
        <p:spPr>
          <a:xfrm>
            <a:off x="6309360" y="31729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Landmark face tracking; ROI colour means on the node before JPEG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703" y="411370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39502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Weak heart sounds through air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577840" y="426110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18"/>
          <p:cNvSpPr txBox="1"/>
          <p:nvPr/>
        </p:nvSpPr>
        <p:spPr>
          <a:xfrm>
            <a:off x="6309360" y="395020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Contact or stethoscope-coupled microphone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475488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03" y="489094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472744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Skin tone and uncalibrated colour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5577840" y="503834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Text 22"/>
          <p:cNvSpPr txBox="1"/>
          <p:nvPr/>
        </p:nvSpPr>
        <p:spPr>
          <a:xfrm>
            <a:off x="6309360" y="472744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Diverse participants; colour reference card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548640" y="553212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03" y="566818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71600" y="55046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Processing on a laptop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5577840" y="5815584"/>
            <a:ext cx="54864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Text 26"/>
          <p:cNvSpPr txBox="1"/>
          <p:nvPr/>
        </p:nvSpPr>
        <p:spPr>
          <a:xfrm>
            <a:off x="6309360" y="550468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Edge processing on the ESP32 and battery power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8191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Built a low-cost ESP32-S3 node that captures camera video and heart sounds on one microsecond clock and streams them over Wi-Fi with 0 frames or audio blocks lost.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2606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77063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5146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Implemented CHROM rPPG (HR, RR) and Shannon-envelope PCG (HR, RMSSD) with a five-test face gate and quality-weighted fusion with an agreement gate.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3794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95935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370332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Added honest quality gating: readings that do not clearly beat noise are shown as "--".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9834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48072"/>
            <a:ext cx="356616" cy="35661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48920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Verified the link (8 fps, 0.4 ms jitter) and the algorithms (31 tests); the clinical validation protocol and tools are ready.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[1]  W. Verkruysse, L. O. Svaasand, J. S. Nelson, "Remote plethysmographic imaging using ambient light," Opt. Express, 2008.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[2]  M.-Z. Poh, D. J. McDuff, R. W. Picard, "Non-contact, automated cardiac pulse measurements using video imaging and blind source separation," Opt. Express, 2010.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[3]  G. de Haan, V. Jeanne, "Robust pulse rate from chrominance-based rPPG," IEEE Trans. Biomed. Eng., 2013.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[4]  W. Wang, A. C. den Brinker, S. Stuijk, G. de Haan, "Algorithmic principles of remote PPG," IEEE Trans. Biomed. Eng., 2017.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[5]  W. Chen, D. McDuff, "DeepPhys: Video-based physiological measurement using convolutional attention networks," ECCV, 2018.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[6]  M. Villarroel et al., "Non-contact physiological monitoring of preterm infants in the NICU," npj Digit. Med., 2019.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[7]  H. Liang, S. Lukkarinen, I. Hartimo, "Heart sound segmentation algorithm based on heart sound envelogram," Comput. Cardiol., 1997.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[8]  D. B. Springer, L. Tarassenko, G. D. Clifford, "Logistic regression-HSMM-based heart sound segmentation," IEEE Trans. Biomed. Eng., 2016.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[9]  A. Mariakakis et al., "BiliScreen: Smartphone-based scleral jaundice monitoring," Proc. ACM IMWUT, 2017.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[10]  D. J. McDuff, E. B. Blackford, J. R. Estepp, "The impact of video compression on remote cardiac pulse measurement," IEEE FG, 2017.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[11]  E. M. Nowara, D. McDuff, A. Veeraraghavan, "A meta-analysis of the impact of skin type and gender on non-contact PPG," CVPRW, 2020.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[12]  P. Viola, M. Jones, "Rapid object detection using a boosted cascade of simple features," CVPR, 2001.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[13]  P. D. Welch, "The use of FFT for the estimation of power spectra," IEEE Trans. Audio Electroacoust., 1967.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[14]  J. M. Bland, D. G. Altman, "Statistical methods for assessing agreement between two methods of clinical measurement," Lancet, 1986.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[15]  AAMI EC13, "Cardiac monitors, heart rate meters, and alarms."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Team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Pratik Kumar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Uday Krishan Khandelwal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Janvhee Dhote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Faculty Guide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3108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Jeeva J. B.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of Electronics Engineering (SENSE), Vellore Institute of Technology, Vellore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icVitals">
  <a:themeElements>
    <a:clrScheme name="SonicVitals">
      <a:dk1>
        <a:srgbClr val="0B2A21"/>
      </a:dk1>
      <a:lt1>
        <a:srgbClr val="FFFFFF"/>
      </a:lt1>
      <a:dk2>
        <a:srgbClr val="0F6A4A"/>
      </a:dk2>
      <a:lt2>
        <a:srgbClr val="EAF4EE"/>
      </a:lt2>
      <a:accent1>
        <a:srgbClr val="0F6A4A"/>
      </a:accent1>
      <a:accent2>
        <a:srgbClr val="2BB673"/>
      </a:accent2>
      <a:accent3>
        <a:srgbClr val="D9534F"/>
      </a:accent3>
      <a:accent4>
        <a:srgbClr val="E89B2F"/>
      </a:accent4>
      <a:accent5>
        <a:srgbClr val="3D5A50"/>
      </a:accent5>
      <a:accent6>
        <a:srgbClr val="A8D5BA"/>
      </a:accent6>
      <a:hlink>
        <a:srgbClr val="0F6A4A"/>
      </a:hlink>
      <a:folHlink>
        <a:srgbClr val="3D5A50"/>
      </a:folHlink>
    </a:clrScheme>
    <a:fontScheme name="SonicVita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SonicVitals Final Review</dc:title>
  <dc:subject>PptxGenJS Presentation</dc:subject>
  <dc:creator>Pratik Kumar, Uday Krishan Khandelwal, Janvhee Dhote</dc:creator>
  <cp:lastModifiedBy>Pratik Kumar, Uday Krishan Khandelwal, Janvhee Dhote</cp:lastModifiedBy>
  <cp:revision>1</cp:revision>
  <dcterms:created xsi:type="dcterms:W3CDTF">2026-10-08T16:57:22Z</dcterms:created>
  <dcterms:modified xsi:type="dcterms:W3CDTF">2026-10-08T16:57:22Z</dcterms:modified>
</cp:coreProperties>
</file>