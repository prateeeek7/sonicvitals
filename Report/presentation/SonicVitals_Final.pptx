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df2bb2e-6bdb-3324-64b0-7f69e1a20581}">
          <p14:sldIdLst>
            <p14:sldId id="256"/>
            <p14:sldId id="257"/>
            <p14:sldId id="258"/>
          </p14:sldIdLst>
        </p14:section>
        <p14:section name="System" id="{12555a4b-e87a-4bad-58a4-68d8c851c417}">
          <p14:sldIdLst>
            <p14:sldId id="259"/>
            <p14:sldId id="260"/>
            <p14:sldId id="261"/>
          </p14:sldIdLst>
        </p14:section>
        <p14:section name="Results" id="{b82cf833-a8f1-e97b-7b13-a044d18086f9}">
          <p14:sldIdLst>
            <p14:sldId id="262"/>
            <p14:sldId id="263"/>
          </p14:sldIdLst>
        </p14:section>
        <p14:section name="Conclusion" id="{65909511-086d-88da-1ae2-bd5a935aeb70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line: we measure heart rate and breathing without touching the person, using a cheap ESP32 node with a camera and a microphone. The photo is the actual prototype: ESP32-S3 with GC2145 camera, INMP441 MEMS microphones and an OLED display.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for one healthy person a ₹800 oximeter is better. Contactless matters when contact is the problem: people who won't or can't wear sensors, fragile skin, and shared screening. Existing contactless options are closed phone apps or expensive radar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contributions. The algorithms themselves are published (CHROM, Welch, PCG envelopes); our contribution is the integration: a cheap synchronised two-sensor node, fusion with an agreement gate, and quality gating that refuses to show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parts. The node captures at a fixed 8 fps on core 1 and audio on core 0, timestamps everything with the same clock and streams over Wi-Fi TCP. The host does all signal processing in Python and serves the dashboard; it also sends the result back to the OLED every 1.5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problems from building it. The mic's I2S pins were the USB-serial pins, so USB streaming died with the mic on: we moved to Wi-Fi. The GC2145 has no JPEG encoder, so we compress in software at a fixed 8 fps. Auto-exposure changes are bigger than the 0.1-1% pulse, so we lock them. Bandwidth forced audio decimation and a PSRAM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Camera: each heartbeat changes skin colour by 0.1-1%. We average thousands of skin pixels, put samples on a uniform time grid, use CHROM to cancel motion and lighting, band-pass to the heart-rate range and pick the Welch spectral peak. Sound: band-pass the heart sounds, take the Shannon energy envelope and find its period by autocorrelation. Each channel has a quality gate; fusion averages them only when they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from the prototype. Left: the camera view with the face box and the skin region, and the recovered pulse waveform. Right: the pulse spectrum; the highest peak in the heart-rate band gives HR. These screenshots are from an earlier build; the current one also shows SNR and displays '--' when the signal is weak. Best: show the live demo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results we actually measured. Timing jitter fell from 310 ms with the first Wi-Fi firmware to 0.4 ms after moving capture into a fixed-rate task. 30 s run: 8.0 fps, no lost frames or audio. 31 automated tests: synthetic HR within 2 BPM; pure noise passes the quality gate about 5% of the time. Gap bridging cut buffer restarts from 16 to 6 on a recorded session. Clinical accuracy against an ECG strap is the next step; we do not claim a number we haven't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limitations before the examiners do. The biggest is that HR accuracy hasn't been validated against a reference yet. An ordinary camera needs light, so bedside night use needs IR. Motion, lighting and weak heart sounds through air are the other limits. Each has a concrete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 and invite questions. If there is time, run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486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SonicVitals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SonicVitals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Contactless heart-rate and breathing monitoring with a low-cost camera + microphone node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ESP32-S3  ·  rPPG  ·  Heart sounds  ·  Sensor fusion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SEM 5 Project  ·  VIT  ·  October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29400" y="2011680"/>
            <a:ext cx="507492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pic>
        <p:nvPicPr>
          <p:cNvPr id="7" name="Image 0" descr="/Users/pratikkumar/Desktop/SEM5 Projects/SonicVitals/Report/presentation/assets/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212848"/>
            <a:ext cx="4800600" cy="2293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Some people can't wear a sensor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3619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53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Elderly and bedridden patients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7373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People with dementia pull clips and straps off; nobody re-attaches them at night.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6207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679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Fragile skin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3063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Newborns and burn patients: adhesive sensors can injure the skin.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4023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18795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Shared screening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4389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Health rooms and kiosks: quick checks for many people without a shared finger clip.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17220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already exists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83080"/>
          <a:ext cx="5440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Limitation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Finger pulse oximeter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₹500–1,500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Needs contact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Smartwatch / band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₹2,000+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Must be worn and charged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Face-scan phone apps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 / licence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Closed; someone holds the phone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Radar / under-mattress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₹10,000+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Single purpose, closed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Shape 11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gap: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cheap, open, fixed node that measures without contact and says when its reading can't be trusted.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we built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19129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Low-cost sensor node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2860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ESP32-S3 + GC2145 camera + INMP441 microphone + OLED, about ₹1,500 of parts, streaming over Wi-Fi.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19129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Two sensors, one clock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2860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Every frame and audio block carries a microsecond timestamp from the same ESP32 clock, so camera and sound line up.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8680" y="4114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429036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Fusion with an agreement check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4663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Camera HR and heart-sound HR are averaged by quality only if they agree within 8 BPM.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6172200" y="379476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92240" y="4114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5" y="429036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Honest quality gating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4663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A reading is shown only if its signal clearly beats noise; otherwise the display shows "--".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749040" cy="48463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EDGE NODE · ESP32-S3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3832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2805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029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Camera task (core 1)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350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GC2145 · 8 fps fixed 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software JPEG · 3 s PSRAM ring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3108960"/>
            <a:ext cx="33832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4" y="34692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3218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Audio task (core 0)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554480" y="3538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INMP441 I²S 16 kHz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63-tap FIR → 4 kHz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1520" y="4297680"/>
            <a:ext cx="33832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526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46579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4407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SSD1306 OLED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554480" y="47274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HR · RR · status · IP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5577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Each packet: µs timestamp + sequence no.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40680" y="1325880"/>
            <a:ext cx="3749040" cy="48463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66928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HOST · Python (Flask, OpenCV, SciPy)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623560" y="1920240"/>
            <a:ext cx="338328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80644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Optical rPPG engine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806440" y="2359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face gate · CHROM · Welch spectrum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623560" y="2944368"/>
            <a:ext cx="338328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806440" y="3035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Acoustic PCG engine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80644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Shannon envelope · autocorrelation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623560" y="3968496"/>
            <a:ext cx="338328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806440" y="40599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Fusion + quality gates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5806440" y="4407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agree ≤ 8 BPM · SNR ≥ 0 dB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623560" y="4992624"/>
            <a:ext cx="338328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806440" y="50840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Session recorder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5806440" y="54315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CSV + WAV for offline evaluation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10058400" y="1920240"/>
            <a:ext cx="1554480" cy="228600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0515600" y="21488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9219" y="2302459"/>
            <a:ext cx="332842" cy="33284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014984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 dashboard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10149840" y="3291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video · vitals · waveforms · diagnostics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4297680" y="2514600"/>
            <a:ext cx="11430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Text 35"/>
          <p:cNvSpPr txBox="1"/>
          <p:nvPr/>
        </p:nvSpPr>
        <p:spPr>
          <a:xfrm>
            <a:off x="4343400" y="21031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Wi-Fi TCP :3333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4343400" y="25877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video + audio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 flipH="1">
            <a:off x="4297680" y="4526280"/>
            <a:ext cx="11430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44" name="Text 38"/>
          <p:cNvSpPr txBox="1"/>
          <p:nvPr/>
        </p:nvSpPr>
        <p:spPr>
          <a:xfrm>
            <a:off x="4343400" y="45994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VITALS every 1.5 s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9189720" y="3063240"/>
            <a:ext cx="8686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6" name="Text 40"/>
          <p:cNvSpPr txBox="1"/>
          <p:nvPr/>
        </p:nvSpPr>
        <p:spPr>
          <a:xfrm>
            <a:off x="9189720" y="31546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HTTP JSON + MJPEG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Engineering the node: problems we hit</a:t>
            </a:r>
            <a:endParaRPr lang="en-US" sz="3400" dirty="0"/>
          </a:p>
        </p:txBody>
      </p:sp>
      <p:pic>
        <p:nvPicPr>
          <p:cNvPr id="3" name="Image 0" descr="/Users/pratikkumar/Desktop/SEM5 Projects/SonicVitals/Report/presentation/assets/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669280" cy="27086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434840"/>
            <a:ext cx="56692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5720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ESP32-S3: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cores at 240 MHz, 8 MB PSRAM, Wi-Fi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GC2145: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MP camera, used at 240×160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INMP441: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24-bit I²S MEMS microphone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SSD1306: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128×64 OLED over I²C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8368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166237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0664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Mic pins = USB-serial pins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1847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GPIO43/44 carry both → stream over Wi-Fi instead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583680" y="269748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299" y="285109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0664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hardware JPEG on GC2145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7406640" y="30358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Capture RGB565, compress in software, fixed 8 fps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583680" y="3886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4039819"/>
            <a:ext cx="332842" cy="33284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40664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Auto-exposure hides the pulse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7406640" y="42245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Lock exposure, gain, white balance after 3 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583680" y="50749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299" y="5228539"/>
            <a:ext cx="332842" cy="33284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40664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Hotspot gives only ~70 kB/s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7406640" y="5413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Audio 16 → 4 kHz (FIR), 3 s PSRAM frame buffer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pixels and sound to heart rate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OPTICAL · camera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373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Face gate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031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Haar cascade + 5 checks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9424" y="216712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23160" y="16459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32888" y="17373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Skin colour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1031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forehead + cheeks mean R,G,B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23944" y="216712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16459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07408" y="17373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Resample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21031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timestamps → 15 Hz grid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98464" y="216712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16459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17373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CHROM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21031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 = X − αY cancels motion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72984" y="216712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46720" y="16459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56448" y="17373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Band-pass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56448" y="21031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0.75–2.5 Hz (45–150 BPM)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47504" y="216712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21240" y="16459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30968" y="17373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30968" y="21031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Welch peak, tracked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shown if SNR ≥ 0 dB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ACOUSTIC · chest microphone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3375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Band-pass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7033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25–400 Hz heart sounds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49424" y="376732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423160" y="32461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32888" y="33375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Resample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532888" y="37033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kHz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23944" y="376732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297680" y="32461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07408" y="33375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Envelope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407408" y="37033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Shannon energy −x² log x²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98464" y="376732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172200" y="32461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81928" y="33375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HR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281928" y="37033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autocorrelation, 60/τ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shown if ρ ≥ 0.3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921240" y="3246120"/>
            <a:ext cx="1691640" cy="1051560"/>
          </a:xfrm>
          <a:prstGeom prst="roundRect">
            <a:avLst>
              <a:gd name="adj" fmla="val 10435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030968" y="333756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Breathing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0030968" y="37033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camera green 0.15–0.40 Hz → RR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5074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5250485"/>
            <a:ext cx="380390" cy="380390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173736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Fusion</a:t>
            </a:r>
            <a:endParaRPr lang="en-US" sz="1800" dirty="0"/>
          </a:p>
        </p:txBody>
      </p:sp>
      <p:sp>
        <p:nvSpPr>
          <p:cNvPr id="50" name="Text 47"/>
          <p:cNvSpPr txBox="1"/>
          <p:nvPr/>
        </p:nvSpPr>
        <p:spPr>
          <a:xfrm>
            <a:off x="1737360" y="5257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If camera and sound agree within 8 BPM: HR = (w_cam·HR_cam + w_snd·HR_snd) / (w_cam + w_snd), weighted by signal quality. If they disagree, use the better channel and flag a conflict. Brief disturbances (≤ 2 s) are bridged; longer ones hold the last value for 15 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live dashboard</a:t>
            </a:r>
            <a:endParaRPr lang="en-US" sz="3400" dirty="0"/>
          </a:p>
        </p:txBody>
      </p:sp>
      <p:pic>
        <p:nvPicPr>
          <p:cNvPr id="3" name="Image 0" descr="/Users/pratikkumar/Desktop/SEM5 Projects/SonicVitals/Report/presentation/assets/dash_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023360" cy="3392378"/>
          </a:xfrm>
          <a:prstGeom prst="rect">
            <a:avLst/>
          </a:prstGeom>
        </p:spPr>
      </p:pic>
      <p:pic>
        <p:nvPicPr>
          <p:cNvPr id="4" name="Image 1" descr="/Users/pratikkumar/Desktop/SEM5 Projects/SonicVitals/Report/presentation/assets/dash_bv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46320"/>
            <a:ext cx="4023360" cy="1265208"/>
          </a:xfrm>
          <a:prstGeom prst="rect">
            <a:avLst/>
          </a:prstGeom>
        </p:spPr>
      </p:pic>
      <p:pic>
        <p:nvPicPr>
          <p:cNvPr id="5" name="Image 2" descr="/Users/pratikkumar/Desktop/SEM5 Projects/SonicVitals/Report/presentation/assets/ps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325880"/>
            <a:ext cx="6629400" cy="291915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983480" y="4434840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120640" y="45720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1206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577840" y="4572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Face gate + skin ROI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5120640" y="5074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Green box = face passed all 5 checks; yellow = skin patch used for the pulse.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7269480" y="4434840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406640" y="45720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4066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863840" y="4572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Recovered pulse wave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5074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Band-passed CHROM signal; each hump is one heartbeat.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555480" y="4434840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692640" y="45720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6926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0149840" y="45720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Pulse spectrum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9692640" y="5074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Highest peak in 0.75–2.5 Hz gives HR = 60 × f₀.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we measured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8521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Frame-timing jitter (SD) — lower is better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Wi-Fi, first firmware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4206240" cy="38404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93208" y="2514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310 ms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USB-serial 1 Mbaud (mic off)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474720"/>
            <a:ext cx="210312" cy="38404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474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15.5 ms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Wi-Fi, fixed-rate capture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434840"/>
            <a:ext cx="4572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4434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0.4 ms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1663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775× steadier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after moving capture into a fixed-rate camera task with timestamps taken at capture.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1325880"/>
            <a:ext cx="2377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463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67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frames / s received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evenly spaced, Wi-Fi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1325880"/>
            <a:ext cx="2377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72600" y="1463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2167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frames or audio blocks lost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30 s run, checked by sequence no.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3291840"/>
            <a:ext cx="2377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3429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 BPM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1330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HR on synthetic signals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572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at 52, 78 and 128 BPM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89720" y="3291840"/>
            <a:ext cx="2377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72600" y="3429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≈5 %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41330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noise passing the gate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4572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pure-noise test, so "--" not fake HR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5349240"/>
            <a:ext cx="48920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Not yet measured: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HR accuracy against an ECG chest strap (planned study).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Limitations and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NEXT STEP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8452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reference validation yet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577840" y="2011680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6309360" y="1691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Compare with an ECG chest strap: Bland–Altman, AAMI ±5 BPM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7596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606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Needs light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577840" y="2926080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6309360" y="2606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Add an IR LED + IR-sensitive camera for night monitoring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6740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520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Motion and lighting changes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577840" y="3840480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6309360" y="35204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Landmark face tracking; colour means computed on the node before JPEG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58845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4348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Heart sounds weak through air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577840" y="4754880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Text 18"/>
          <p:cNvSpPr txBox="1"/>
          <p:nvPr/>
        </p:nvSpPr>
        <p:spPr>
          <a:xfrm>
            <a:off x="6309360" y="44348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Contact or stethoscope-coupled microphone on the chest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53492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" y="550285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5349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Colour indices uncalibrated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5577840" y="5669280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Text 22"/>
          <p:cNvSpPr txBox="1"/>
          <p:nvPr/>
        </p:nvSpPr>
        <p:spPr>
          <a:xfrm>
            <a:off x="6309360" y="5349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Colour reference card and fixed lighting; exploratory only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5623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801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Contactless HR and breathing from a ≈₹1,500 open node, with no phone or wearable.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90779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852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Camera and heart-sound data on one clock, fused only when the two agree.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3794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95935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390448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Quality gates show "--" instead of a confident wrong number.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nicVitals">
  <a:themeElements>
    <a:clrScheme name="SonicVitals">
      <a:dk1>
        <a:srgbClr val="0B2A21"/>
      </a:dk1>
      <a:lt1>
        <a:srgbClr val="FFFFFF"/>
      </a:lt1>
      <a:dk2>
        <a:srgbClr val="0F6A4A"/>
      </a:dk2>
      <a:lt2>
        <a:srgbClr val="EAF4EE"/>
      </a:lt2>
      <a:accent1>
        <a:srgbClr val="0F6A4A"/>
      </a:accent1>
      <a:accent2>
        <a:srgbClr val="2BB673"/>
      </a:accent2>
      <a:accent3>
        <a:srgbClr val="D9534F"/>
      </a:accent3>
      <a:accent4>
        <a:srgbClr val="E89B2F"/>
      </a:accent4>
      <a:accent5>
        <a:srgbClr val="3D5A50"/>
      </a:accent5>
      <a:accent6>
        <a:srgbClr val="A8D5BA"/>
      </a:accent6>
      <a:hlink>
        <a:srgbClr val="0F6A4A"/>
      </a:hlink>
      <a:folHlink>
        <a:srgbClr val="3D5A50"/>
      </a:folHlink>
    </a:clrScheme>
    <a:fontScheme name="SonicVital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SonicVitals</dc:title>
  <dc:subject>PptxGenJS Presentation</dc:subject>
  <dc:creator>PptxGenJS</dc:creator>
  <cp:lastModifiedBy>PptxGenJS</cp:lastModifiedBy>
  <cp:revision>1</cp:revision>
  <dcterms:created xsi:type="dcterms:W3CDTF">2026-10-08T16:25:13Z</dcterms:created>
  <dcterms:modified xsi:type="dcterms:W3CDTF">2026-10-08T16:25:13Z</dcterms:modified>
</cp:coreProperties>
</file>