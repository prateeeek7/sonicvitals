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7df7c20-cc92-0ce3-a8c0-81b13e768b6a}">
          <p14:sldIdLst>
            <p14:sldId id="256"/>
            <p14:sldId id="257"/>
            <p14:sldId id="258"/>
            <p14:sldId id="259"/>
          </p14:sldIdLst>
        </p14:section>
        <p14:section name="System design" id="{dd029e21-c452-bd16-0773-4e6914e9a183}">
          <p14:sldIdLst>
            <p14:sldId id="260"/>
            <p14:sldId id="261"/>
            <p14:sldId id="262"/>
            <p14:sldId id="263"/>
            <p14:sldId id="264"/>
          </p14:sldIdLst>
        </p14:section>
        <p14:section name="Signal processing" id="{b044f756-6285-b672-3285-755f9bbbf8b9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Face insights and dashboard" id="{cee3d369-286d-dacb-37a5-fcfa00d0dace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Results" id="{de7e16dc-bb99-7d1b-853b-cf4270c49fca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V_COVER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676656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V_SECTION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51960"/>
            <a:ext cx="5303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V_CONTENT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548640" y="1033272"/>
            <a:ext cx="822960" cy="0"/>
          </a:xfrm>
          <a:prstGeom prst="line">
            <a:avLst/>
          </a:prstGeom>
          <a:noFill/>
          <a:ln w="38100">
            <a:solidFill>
              <a:srgbClr val="D98C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6766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SonicVitals: Contactless Vital-Sign Sensing with a Low-Cost Optical–Acoustic Edge Node, Skin-Metered Exposure Control and Quality-Gated Remote Photoplethysmography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Final project review  ·  October 2026</a:t>
            </a:r>
            <a:endParaRPr lang="en-US" sz="1500" dirty="0"/>
          </a:p>
        </p:txBody>
      </p:sp>
      <p:sp>
        <p:nvSpPr>
          <p:cNvPr id="4" name="deco circle"/>
          <p:cNvSpPr/>
          <p:nvPr/>
        </p:nvSpPr>
        <p:spPr>
          <a:xfrm>
            <a:off x="8412480" y="-1371600"/>
            <a:ext cx="4937760" cy="4937760"/>
          </a:xfrm>
          <a:prstGeom prst="ellipse">
            <a:avLst/>
          </a:prstGeom>
          <a:solidFill>
            <a:srgbClr val="0F6A4A">
              <a:alpha val="8000"/>
            </a:srgbClr>
          </a:solidFill>
          <a:ln/>
        </p:spPr>
      </p:sp>
      <p:sp>
        <p:nvSpPr>
          <p:cNvPr id="5" name="frame 1"/>
          <p:cNvSpPr/>
          <p:nvPr/>
        </p:nvSpPr>
        <p:spPr>
          <a:xfrm>
            <a:off x="7818120" y="518287"/>
            <a:ext cx="3840480" cy="3809746"/>
          </a:xfrm>
          <a:prstGeom prst="roundRect">
            <a:avLst>
              <a:gd name="adj" fmla="val 1920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live_map.png" descr="/Users/pratikkumar/Desktop/SEM5 Projects/SonicVitals/Report/Final Project report and ppt/build/deck_img/liv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2" y="591439"/>
            <a:ext cx="3694176" cy="3663442"/>
          </a:xfrm>
          <a:prstGeom prst="rect">
            <a:avLst/>
          </a:prstGeom>
        </p:spPr>
      </p:pic>
      <p:sp>
        <p:nvSpPr>
          <p:cNvPr id="7" name="chip 2"/>
          <p:cNvSpPr/>
          <p:nvPr/>
        </p:nvSpPr>
        <p:spPr>
          <a:xfrm>
            <a:off x="8046720" y="3779393"/>
            <a:ext cx="3383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Blood-flow map, captured live from a webcam</a:t>
            </a:r>
            <a:endParaRPr lang="en-US" sz="1100" dirty="0"/>
          </a:p>
        </p:txBody>
      </p:sp>
      <p:sp>
        <p:nvSpPr>
          <p:cNvPr id="8" name="card 3"/>
          <p:cNvSpPr/>
          <p:nvPr/>
        </p:nvSpPr>
        <p:spPr>
          <a:xfrm>
            <a:off x="548640" y="4892040"/>
            <a:ext cx="2615184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Janhavee Dhote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24BML0120</a:t>
            </a:r>
            <a:endParaRPr lang="en-US" sz="1200" dirty="0"/>
          </a:p>
        </p:txBody>
      </p:sp>
      <p:sp>
        <p:nvSpPr>
          <p:cNvPr id="9" name="icon bg 4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UserGraduate 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390388"/>
            <a:ext cx="237744" cy="237744"/>
          </a:xfrm>
          <a:prstGeom prst="rect">
            <a:avLst/>
          </a:prstGeom>
        </p:spPr>
      </p:pic>
      <p:sp>
        <p:nvSpPr>
          <p:cNvPr id="11" name="card 6"/>
          <p:cNvSpPr/>
          <p:nvPr/>
        </p:nvSpPr>
        <p:spPr>
          <a:xfrm>
            <a:off x="3346704" y="4892040"/>
            <a:ext cx="2615184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Pratik Kumar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24BML0027</a:t>
            </a:r>
            <a:endParaRPr lang="en-US" sz="1200" dirty="0"/>
          </a:p>
        </p:txBody>
      </p:sp>
      <p:sp>
        <p:nvSpPr>
          <p:cNvPr id="12" name="icon bg 7"/>
          <p:cNvSpPr/>
          <p:nvPr/>
        </p:nvSpPr>
        <p:spPr>
          <a:xfrm>
            <a:off x="3529584" y="5280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aUserGraduate 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5390388"/>
            <a:ext cx="237744" cy="237744"/>
          </a:xfrm>
          <a:prstGeom prst="rect">
            <a:avLst/>
          </a:prstGeom>
        </p:spPr>
      </p:pic>
      <p:sp>
        <p:nvSpPr>
          <p:cNvPr id="14" name="card 9"/>
          <p:cNvSpPr/>
          <p:nvPr/>
        </p:nvSpPr>
        <p:spPr>
          <a:xfrm>
            <a:off x="6144768" y="4892040"/>
            <a:ext cx="2615184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Uday Krishan Khandelwal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24BML0012</a:t>
            </a:r>
            <a:endParaRPr lang="en-US" sz="1200" dirty="0"/>
          </a:p>
        </p:txBody>
      </p:sp>
      <p:sp>
        <p:nvSpPr>
          <p:cNvPr id="15" name="icon bg 10"/>
          <p:cNvSpPr/>
          <p:nvPr/>
        </p:nvSpPr>
        <p:spPr>
          <a:xfrm>
            <a:off x="6327648" y="5280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aUserGraduate 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5390388"/>
            <a:ext cx="237744" cy="237744"/>
          </a:xfrm>
          <a:prstGeom prst="rect">
            <a:avLst/>
          </a:prstGeom>
        </p:spPr>
      </p:pic>
      <p:sp>
        <p:nvSpPr>
          <p:cNvPr id="17" name="card 12"/>
          <p:cNvSpPr/>
          <p:nvPr/>
        </p:nvSpPr>
        <p:spPr>
          <a:xfrm>
            <a:off x="8942832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Guide: Jeeva J. B.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School of Electronics Engineering (SENSE), VIT</a:t>
            </a:r>
            <a:endParaRPr lang="en-US" sz="1200" dirty="0"/>
          </a:p>
        </p:txBody>
      </p:sp>
      <p:sp>
        <p:nvSpPr>
          <p:cNvPr id="18" name="icon bg 13"/>
          <p:cNvSpPr/>
          <p:nvPr/>
        </p:nvSpPr>
        <p:spPr>
          <a:xfrm>
            <a:off x="9125712" y="52806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FaChalkboardTeacher 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53903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Why measure vital signs without contact?</a:t>
            </a:r>
            <a:endParaRPr lang="en-US" sz="2600" dirty="0"/>
          </a:p>
        </p:txBody>
      </p:sp>
      <p:sp>
        <p:nvSpPr>
          <p:cNvPr id="3" name="stat 15"/>
          <p:cNvSpPr/>
          <p:nvPr/>
        </p:nvSpPr>
        <p:spPr>
          <a:xfrm>
            <a:off x="548640" y="1325880"/>
            <a:ext cx="3566160" cy="146304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0.1–0.5 %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change in skin brightness with every heartbeat: invisible to the eye, measurable by a camera</a:t>
            </a:r>
            <a:endParaRPr lang="en-US" sz="1200" dirty="0"/>
          </a:p>
        </p:txBody>
      </p:sp>
      <p:sp>
        <p:nvSpPr>
          <p:cNvPr id="4" name="stat 16"/>
          <p:cNvSpPr/>
          <p:nvPr/>
        </p:nvSpPr>
        <p:spPr>
          <a:xfrm>
            <a:off x="4311396" y="1325880"/>
            <a:ext cx="3566160" cy="1463040"/>
          </a:xfrm>
          <a:prstGeom prst="roundRect">
            <a:avLst>
              <a:gd name="adj" fmla="val 6250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≈ ₹2,150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 the complete edge node: camera, microphone, display and microcontroller</a:t>
            </a:r>
            <a:endParaRPr lang="en-US" sz="1200" dirty="0"/>
          </a:p>
        </p:txBody>
      </p:sp>
      <p:sp>
        <p:nvSpPr>
          <p:cNvPr id="5" name="stat 17"/>
          <p:cNvSpPr/>
          <p:nvPr/>
        </p:nvSpPr>
        <p:spPr>
          <a:xfrm>
            <a:off x="8074152" y="1325880"/>
            <a:ext cx="3566160" cy="1463040"/>
          </a:xfrm>
          <a:prstGeom prst="roundRect">
            <a:avLst>
              <a:gd name="adj" fmla="val 6250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0 contact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electrodes, finger clips or chest straps on the person</a:t>
            </a:r>
            <a:endParaRPr lang="en-US" sz="1200" dirty="0"/>
          </a:p>
        </p:txBody>
      </p:sp>
      <p:sp>
        <p:nvSpPr>
          <p:cNvPr id="6" name="card 18"/>
          <p:cNvSpPr/>
          <p:nvPr/>
        </p:nvSpPr>
        <p:spPr>
          <a:xfrm>
            <a:off x="548640" y="29718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Contact sensors have limits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Electrodes and clips must be attached and cleaned, can irritate fragile skin (newborns, burns, elderly) and restrict movement.</a:t>
            </a:r>
            <a:endParaRPr lang="en-US" sz="1200" dirty="0"/>
          </a:p>
        </p:txBody>
      </p:sp>
      <p:sp>
        <p:nvSpPr>
          <p:cNvPr id="7" name="icon bg 19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FaHandPaper 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3275381"/>
            <a:ext cx="261518" cy="261518"/>
          </a:xfrm>
          <a:prstGeom prst="rect">
            <a:avLst/>
          </a:prstGeom>
        </p:spPr>
      </p:pic>
      <p:sp>
        <p:nvSpPr>
          <p:cNvPr id="9" name="card 21"/>
          <p:cNvSpPr/>
          <p:nvPr/>
        </p:nvSpPr>
        <p:spPr>
          <a:xfrm>
            <a:off x="4311396" y="29718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Continuous and remote care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Telehealth, home and elderly monitoring need checks that work without trained staff or consumables.</a:t>
            </a:r>
            <a:endParaRPr lang="en-US" sz="1200" dirty="0"/>
          </a:p>
        </p:txBody>
      </p:sp>
      <p:sp>
        <p:nvSpPr>
          <p:cNvPr id="10" name="icon bg 22"/>
          <p:cNvSpPr/>
          <p:nvPr/>
        </p:nvSpPr>
        <p:spPr>
          <a:xfrm>
            <a:off x="4494276" y="3154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FaHome 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3275381"/>
            <a:ext cx="261518" cy="261518"/>
          </a:xfrm>
          <a:prstGeom prst="rect">
            <a:avLst/>
          </a:prstGeom>
        </p:spPr>
      </p:pic>
      <p:sp>
        <p:nvSpPr>
          <p:cNvPr id="12" name="card 24"/>
          <p:cNvSpPr/>
          <p:nvPr/>
        </p:nvSpPr>
        <p:spPr>
          <a:xfrm>
            <a:off x="8074152" y="29718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Readings must be trustworthy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Camera methods break with motion and lighting. A usable system must know, and say, when a value cannot be trusted.</a:t>
            </a:r>
            <a:endParaRPr lang="en-US" sz="1200" dirty="0"/>
          </a:p>
        </p:txBody>
      </p:sp>
      <p:sp>
        <p:nvSpPr>
          <p:cNvPr id="13" name="icon bg 25"/>
          <p:cNvSpPr/>
          <p:nvPr/>
        </p:nvSpPr>
        <p:spPr>
          <a:xfrm>
            <a:off x="8257032" y="31546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FaShieldAlt 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3" y="3275381"/>
            <a:ext cx="261518" cy="261518"/>
          </a:xfrm>
          <a:prstGeom prst="rect">
            <a:avLst/>
          </a:prstGeom>
        </p:spPr>
      </p:pic>
      <p:sp>
        <p:nvSpPr>
          <p:cNvPr id="15" name="answer 27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279400" tIns="76200" rIns="203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Our answer:  </a:t>
            </a:r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one camera node measures heart rate, breathing, HRV, blood flow and liveness, and every value carries a trust badge.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Research gap and problem statement</a:t>
            </a:r>
            <a:endParaRPr lang="en-US" sz="2600" dirty="0"/>
          </a:p>
        </p:txBody>
      </p:sp>
      <p:sp>
        <p:nvSpPr>
          <p:cNvPr id="3" name="card 28"/>
          <p:cNvSpPr/>
          <p:nvPr/>
        </p:nvSpPr>
        <p:spPr>
          <a:xfrm>
            <a:off x="548640" y="1325880"/>
            <a:ext cx="548640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Accuracy collapses with motion and light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Most rPPG methods assume a still face under constant lighting.</a:t>
            </a:r>
            <a:endParaRPr lang="en-US" sz="1200" dirty="0"/>
          </a:p>
        </p:txBody>
      </p:sp>
      <p:sp>
        <p:nvSpPr>
          <p:cNvPr id="4" name="icon bg 29"/>
          <p:cNvSpPr/>
          <p:nvPr/>
        </p:nvSpPr>
        <p:spPr>
          <a:xfrm>
            <a:off x="731520" y="1632204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FaArrowsAlt 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752905"/>
            <a:ext cx="261518" cy="261518"/>
          </a:xfrm>
          <a:prstGeom prst="rect">
            <a:avLst/>
          </a:prstGeom>
        </p:spPr>
      </p:pic>
      <p:sp>
        <p:nvSpPr>
          <p:cNvPr id="6" name="card 31"/>
          <p:cNvSpPr/>
          <p:nvPr/>
        </p:nvSpPr>
        <p:spPr>
          <a:xfrm>
            <a:off x="548640" y="2578608"/>
            <a:ext cx="548640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Few systems report reliability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 number is shown even when the spectrum holds no clear heartbeat.</a:t>
            </a:r>
            <a:endParaRPr lang="en-US" sz="1200" dirty="0"/>
          </a:p>
        </p:txBody>
      </p:sp>
      <p:sp>
        <p:nvSpPr>
          <p:cNvPr id="7" name="icon bg 32"/>
          <p:cNvSpPr/>
          <p:nvPr/>
        </p:nvSpPr>
        <p:spPr>
          <a:xfrm>
            <a:off x="731520" y="288493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FaExclamationTriangle 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3005633"/>
            <a:ext cx="261518" cy="261518"/>
          </a:xfrm>
          <a:prstGeom prst="rect">
            <a:avLst/>
          </a:prstGeom>
        </p:spPr>
      </p:pic>
      <p:sp>
        <p:nvSpPr>
          <p:cNvPr id="9" name="card 34"/>
          <p:cNvSpPr/>
          <p:nvPr/>
        </p:nvSpPr>
        <p:spPr>
          <a:xfrm>
            <a:off x="548640" y="3831336"/>
            <a:ext cx="548640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Low-cost edge hardware is rarely used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Skin statistics before compression and skin-metered exposure are uncommon.</a:t>
            </a:r>
            <a:endParaRPr lang="en-US" sz="1200" dirty="0"/>
          </a:p>
        </p:txBody>
      </p:sp>
      <p:sp>
        <p:nvSpPr>
          <p:cNvPr id="10" name="icon bg 35"/>
          <p:cNvSpPr/>
          <p:nvPr/>
        </p:nvSpPr>
        <p:spPr>
          <a:xfrm>
            <a:off x="731520" y="41376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FaMicrochip 3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258361"/>
            <a:ext cx="261518" cy="261518"/>
          </a:xfrm>
          <a:prstGeom prst="rect">
            <a:avLst/>
          </a:prstGeom>
        </p:spPr>
      </p:pic>
      <p:sp>
        <p:nvSpPr>
          <p:cNvPr id="12" name="card 37"/>
          <p:cNvSpPr/>
          <p:nvPr/>
        </p:nvSpPr>
        <p:spPr>
          <a:xfrm>
            <a:off x="548640" y="5084064"/>
            <a:ext cx="548640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One vital sign, little explanation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Heart rate alone, without breathing, HRV, liveness or a view of the signal.</a:t>
            </a:r>
            <a:endParaRPr lang="en-US" sz="1200" dirty="0"/>
          </a:p>
        </p:txBody>
      </p:sp>
      <p:sp>
        <p:nvSpPr>
          <p:cNvPr id="13" name="icon bg 38"/>
          <p:cNvSpPr/>
          <p:nvPr/>
        </p:nvSpPr>
        <p:spPr>
          <a:xfrm>
            <a:off x="731520" y="5390388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FaLayerGroup 3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5511089"/>
            <a:ext cx="261518" cy="261518"/>
          </a:xfrm>
          <a:prstGeom prst="rect">
            <a:avLst/>
          </a:prstGeom>
        </p:spPr>
      </p:pic>
      <p:sp>
        <p:nvSpPr>
          <p:cNvPr id="15" name="arrow 40"/>
          <p:cNvSpPr/>
          <p:nvPr/>
        </p:nvSpPr>
        <p:spPr>
          <a:xfrm>
            <a:off x="6172200" y="3383280"/>
            <a:ext cx="548640" cy="548640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6" name="problem 41"/>
          <p:cNvSpPr/>
          <p:nvPr/>
        </p:nvSpPr>
        <p:spPr>
          <a:xfrm>
            <a:off x="6858000" y="1325880"/>
            <a:ext cx="4782312" cy="4873752"/>
          </a:xfrm>
          <a:prstGeom prst="roundRect">
            <a:avLst>
              <a:gd name="adj" fmla="val 1912"/>
            </a:avLst>
          </a:prstGeom>
          <a:solidFill>
            <a:schemeClr val="accent1"/>
          </a:solidFill>
          <a:ln/>
        </p:spPr>
        <p:txBody>
          <a:bodyPr wrap="square" lIns="330200" tIns="889000" rIns="279400" bIns="2286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PROBLEM STATEMENT</a:t>
            </a:r>
            <a:endParaRPr lang="en-US" sz="1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Design a low-cost, contactless system that measures heart rate and breathing rate from face video in real time, on an embedded edge node or a webcam, rejects motion and lighting artifacts, reports how far each value can be trusted, and explains it on a clear dashboard.</a:t>
            </a:r>
            <a:endParaRPr lang="en-US" sz="1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300" i="1" dirty="0">
                <a:solidFill>
                  <a:schemeClr val="bg1"/>
                </a:solidFill>
              </a:rPr>
              <a:t>Heart-rate accuracy validated on UBFC-rPPG against contact PPG.</a:t>
            </a:r>
            <a:endParaRPr lang="en-US" sz="1200" dirty="0"/>
          </a:p>
        </p:txBody>
      </p:sp>
      <p:sp>
        <p:nvSpPr>
          <p:cNvPr id="17" name="icon bg"/>
          <p:cNvSpPr/>
          <p:nvPr/>
        </p:nvSpPr>
        <p:spPr>
          <a:xfrm>
            <a:off x="7132320" y="1645920"/>
            <a:ext cx="566928" cy="56692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8" name="FaSearc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783080"/>
            <a:ext cx="292608" cy="292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3" name="card 42"/>
          <p:cNvSpPr/>
          <p:nvPr/>
        </p:nvSpPr>
        <p:spPr>
          <a:xfrm>
            <a:off x="548640" y="132588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01   Edge sensor node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ESP32-S3 with camera, MEMS microphone and OLED, streaming time-synchronised data over Wi-Fi</a:t>
            </a:r>
            <a:endParaRPr lang="en-US" sz="1200" dirty="0"/>
          </a:p>
        </p:txBody>
      </p:sp>
      <p:sp>
        <p:nvSpPr>
          <p:cNvPr id="4" name="icon bg 43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FaMicrochip 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261518" cy="261518"/>
          </a:xfrm>
          <a:prstGeom prst="rect">
            <a:avLst/>
          </a:prstGeom>
        </p:spPr>
      </p:pic>
      <p:sp>
        <p:nvSpPr>
          <p:cNvPr id="6" name="card 45"/>
          <p:cNvSpPr/>
          <p:nvPr/>
        </p:nvSpPr>
        <p:spPr>
          <a:xfrm>
            <a:off x="4311396" y="132588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02   Robust heart rate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CHROM, POS and GREEN with motion compensation, artifact repair and a quality gate</a:t>
            </a:r>
            <a:endParaRPr lang="en-US" sz="1200" dirty="0"/>
          </a:p>
        </p:txBody>
      </p:sp>
      <p:sp>
        <p:nvSpPr>
          <p:cNvPr id="7" name="icon bg 46"/>
          <p:cNvSpPr/>
          <p:nvPr/>
        </p:nvSpPr>
        <p:spPr>
          <a:xfrm>
            <a:off x="4494276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FaHeartbeat 4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1629461"/>
            <a:ext cx="261518" cy="261518"/>
          </a:xfrm>
          <a:prstGeom prst="rect">
            <a:avLst/>
          </a:prstGeom>
        </p:spPr>
      </p:pic>
      <p:sp>
        <p:nvSpPr>
          <p:cNvPr id="9" name="card 48"/>
          <p:cNvSpPr/>
          <p:nvPr/>
        </p:nvSpPr>
        <p:spPr>
          <a:xfrm>
            <a:off x="8074152" y="132588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03   One trusted number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Combine classic and three deep-learning models into a stabilised, flag-protected heart rate</a:t>
            </a:r>
            <a:endParaRPr lang="en-US" sz="1200" dirty="0"/>
          </a:p>
        </p:txBody>
      </p:sp>
      <p:sp>
        <p:nvSpPr>
          <p:cNvPr id="10" name="icon bg 49"/>
          <p:cNvSpPr/>
          <p:nvPr/>
        </p:nvSpPr>
        <p:spPr>
          <a:xfrm>
            <a:off x="8257032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FaBalanceScale 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3" y="1629461"/>
            <a:ext cx="261518" cy="261518"/>
          </a:xfrm>
          <a:prstGeom prst="rect">
            <a:avLst/>
          </a:prstGeom>
        </p:spPr>
      </p:pic>
      <p:sp>
        <p:nvSpPr>
          <p:cNvPr id="12" name="card 51"/>
          <p:cNvSpPr/>
          <p:nvPr/>
        </p:nvSpPr>
        <p:spPr>
          <a:xfrm>
            <a:off x="548640" y="384048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04   Breathing and HRV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Four-source breathing rate with its pattern, and heart-rate variability from the camera</a:t>
            </a:r>
            <a:endParaRPr lang="en-US" sz="1200" dirty="0"/>
          </a:p>
        </p:txBody>
      </p:sp>
      <p:sp>
        <p:nvSpPr>
          <p:cNvPr id="13" name="icon bg 52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FaLungs 5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4144061"/>
            <a:ext cx="261518" cy="261518"/>
          </a:xfrm>
          <a:prstGeom prst="rect">
            <a:avLst/>
          </a:prstGeom>
        </p:spPr>
      </p:pic>
      <p:sp>
        <p:nvSpPr>
          <p:cNvPr id="15" name="card 54"/>
          <p:cNvSpPr/>
          <p:nvPr/>
        </p:nvSpPr>
        <p:spPr>
          <a:xfrm>
            <a:off x="4311396" y="384048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05   Face insights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Blood-flow map, perfusion index, liveness, blink rate, head steadiness and colour indices</a:t>
            </a:r>
            <a:endParaRPr lang="en-US" sz="1200" dirty="0"/>
          </a:p>
        </p:txBody>
      </p:sp>
      <p:sp>
        <p:nvSpPr>
          <p:cNvPr id="16" name="icon bg 55"/>
          <p:cNvSpPr/>
          <p:nvPr/>
        </p:nvSpPr>
        <p:spPr>
          <a:xfrm>
            <a:off x="4494276" y="40233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FaEye 5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977" y="4144061"/>
            <a:ext cx="261518" cy="261518"/>
          </a:xfrm>
          <a:prstGeom prst="rect">
            <a:avLst/>
          </a:prstGeom>
        </p:spPr>
      </p:pic>
      <p:sp>
        <p:nvSpPr>
          <p:cNvPr id="18" name="card 57"/>
          <p:cNvSpPr/>
          <p:nvPr/>
        </p:nvSpPr>
        <p:spPr>
          <a:xfrm>
            <a:off x="8074152" y="384048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06   Validation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Benchmark heart rate on UBFC-rPPG against contact PPG and verify live operation</a:t>
            </a:r>
            <a:endParaRPr lang="en-US" sz="1200" dirty="0"/>
          </a:p>
        </p:txBody>
      </p:sp>
      <p:sp>
        <p:nvSpPr>
          <p:cNvPr id="19" name="icon bg 58"/>
          <p:cNvSpPr/>
          <p:nvPr/>
        </p:nvSpPr>
        <p:spPr>
          <a:xfrm>
            <a:off x="8257032" y="4023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aCheckCircle 5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733" y="414406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System design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51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Edge node, firmware, data link and architecture</a:t>
            </a:r>
            <a:endParaRPr lang="en-US" sz="1800" dirty="0"/>
          </a:p>
        </p:txBody>
      </p:sp>
      <p:sp>
        <p:nvSpPr>
          <p:cNvPr id="5" name="deco circle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0F6A4A">
              <a:alpha val="8000"/>
            </a:srgbClr>
          </a:solidFill>
          <a:ln/>
        </p:spPr>
      </p:sp>
      <p:sp>
        <p:nvSpPr>
          <p:cNvPr id="6" name="deco circle 2"/>
          <p:cNvSpPr/>
          <p:nvPr/>
        </p:nvSpPr>
        <p:spPr>
          <a:xfrm>
            <a:off x="6035040" y="4480560"/>
            <a:ext cx="3108960" cy="3108960"/>
          </a:xfrm>
          <a:prstGeom prst="ellipse">
            <a:avLst/>
          </a:prstGeom>
          <a:solidFill>
            <a:srgbClr val="D98C00">
              <a:alpha val="10000"/>
            </a:srgbClr>
          </a:solidFill>
          <a:ln/>
        </p:spPr>
      </p:sp>
      <p:sp>
        <p:nvSpPr>
          <p:cNvPr id="7" name="frame 60"/>
          <p:cNvSpPr/>
          <p:nvPr/>
        </p:nvSpPr>
        <p:spPr>
          <a:xfrm>
            <a:off x="6217920" y="2091226"/>
            <a:ext cx="5440680" cy="2675548"/>
          </a:xfrm>
          <a:prstGeom prst="roundRect">
            <a:avLst>
              <a:gd name="adj" fmla="val 2734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setup_labeled.png" descr="/Users/pratikkumar/Desktop/SEM5 Projects/SonicVitals/Report/Final Project report and ppt/build/figs/setup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2164378"/>
            <a:ext cx="5294376" cy="25292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System architecture: three tiers</a:t>
            </a:r>
            <a:endParaRPr lang="en-US" sz="2600" dirty="0"/>
          </a:p>
        </p:txBody>
      </p:sp>
      <p:sp>
        <p:nvSpPr>
          <p:cNvPr id="3" name="tier 61"/>
          <p:cNvSpPr/>
          <p:nvPr/>
        </p:nvSpPr>
        <p:spPr>
          <a:xfrm>
            <a:off x="548640" y="1325880"/>
            <a:ext cx="3246120" cy="4160520"/>
          </a:xfrm>
          <a:prstGeom prst="roundRect">
            <a:avLst>
              <a:gd name="adj" fmla="val 394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chip 62"/>
          <p:cNvSpPr/>
          <p:nvPr/>
        </p:nvSpPr>
        <p:spPr>
          <a:xfrm>
            <a:off x="685800" y="1463040"/>
            <a:ext cx="29718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NODE  ·  ESP32-S3</a:t>
            </a:r>
            <a:endParaRPr lang="en-US" sz="1200" dirty="0"/>
          </a:p>
        </p:txBody>
      </p:sp>
      <p:sp>
        <p:nvSpPr>
          <p:cNvPr id="5" name="chip 63"/>
          <p:cNvSpPr/>
          <p:nvPr/>
        </p:nvSpPr>
        <p:spPr>
          <a:xfrm>
            <a:off x="685800" y="2057400"/>
            <a:ext cx="2971800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GC2145 camera · 240 × 160, 10 fps</a:t>
            </a:r>
            <a:endParaRPr lang="en-US" sz="1200" dirty="0"/>
          </a:p>
        </p:txBody>
      </p:sp>
      <p:sp>
        <p:nvSpPr>
          <p:cNvPr id="6" name="chip 64"/>
          <p:cNvSpPr/>
          <p:nvPr/>
        </p:nvSpPr>
        <p:spPr>
          <a:xfrm>
            <a:off x="685800" y="2734056"/>
            <a:ext cx="2971800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Skin RGB sums on raw pixels (10 Hz)</a:t>
            </a:r>
            <a:endParaRPr lang="en-US" sz="1200" dirty="0"/>
          </a:p>
        </p:txBody>
      </p:sp>
      <p:sp>
        <p:nvSpPr>
          <p:cNvPr id="7" name="chip 65"/>
          <p:cNvSpPr/>
          <p:nvPr/>
        </p:nvSpPr>
        <p:spPr>
          <a:xfrm>
            <a:off x="685800" y="3410712"/>
            <a:ext cx="2971800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Skin-metered exposure control</a:t>
            </a:r>
            <a:endParaRPr lang="en-US" sz="1200" dirty="0"/>
          </a:p>
        </p:txBody>
      </p:sp>
      <p:sp>
        <p:nvSpPr>
          <p:cNvPr id="8" name="chip 66"/>
          <p:cNvSpPr/>
          <p:nvPr/>
        </p:nvSpPr>
        <p:spPr>
          <a:xfrm>
            <a:off x="685800" y="4087368"/>
            <a:ext cx="2971800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INMP441 microphone · I2S 16 kHz</a:t>
            </a:r>
            <a:endParaRPr lang="en-US" sz="1200" dirty="0"/>
          </a:p>
        </p:txBody>
      </p:sp>
      <p:sp>
        <p:nvSpPr>
          <p:cNvPr id="9" name="chip 67"/>
          <p:cNvSpPr/>
          <p:nvPr/>
        </p:nvSpPr>
        <p:spPr>
          <a:xfrm>
            <a:off x="685800" y="4764024"/>
            <a:ext cx="2971800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SSD1306 OLED shows the vitals</a:t>
            </a:r>
            <a:endParaRPr lang="en-US" sz="1200" dirty="0"/>
          </a:p>
        </p:txBody>
      </p:sp>
      <p:sp>
        <p:nvSpPr>
          <p:cNvPr id="10" name="tier 68"/>
          <p:cNvSpPr/>
          <p:nvPr/>
        </p:nvSpPr>
        <p:spPr>
          <a:xfrm>
            <a:off x="4343400" y="1325880"/>
            <a:ext cx="3931920" cy="4160520"/>
          </a:xfrm>
          <a:prstGeom prst="roundRect">
            <a:avLst>
              <a:gd name="adj" fmla="val 325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hip 69"/>
          <p:cNvSpPr/>
          <p:nvPr/>
        </p:nvSpPr>
        <p:spPr>
          <a:xfrm>
            <a:off x="4480560" y="1463040"/>
            <a:ext cx="3657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PROCESSING ENGINE  ·  PYTHON</a:t>
            </a:r>
            <a:endParaRPr lang="en-US" sz="1200" dirty="0"/>
          </a:p>
        </p:txBody>
      </p:sp>
      <p:sp>
        <p:nvSpPr>
          <p:cNvPr id="12" name="chip 70"/>
          <p:cNvSpPr/>
          <p:nvPr/>
        </p:nvSpPr>
        <p:spPr>
          <a:xfrm>
            <a:off x="4480560" y="2057400"/>
            <a:ext cx="3657600" cy="3918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Face detection + full-face gate</a:t>
            </a:r>
            <a:endParaRPr lang="en-US" sz="1200" dirty="0"/>
          </a:p>
        </p:txBody>
      </p:sp>
      <p:sp>
        <p:nvSpPr>
          <p:cNvPr id="13" name="chip 71"/>
          <p:cNvSpPr/>
          <p:nvPr/>
        </p:nvSpPr>
        <p:spPr>
          <a:xfrm>
            <a:off x="4480560" y="2540726"/>
            <a:ext cx="3657600" cy="3918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Motion-compensated skin tracking</a:t>
            </a:r>
            <a:endParaRPr lang="en-US" sz="1200" dirty="0"/>
          </a:p>
        </p:txBody>
      </p:sp>
      <p:sp>
        <p:nvSpPr>
          <p:cNvPr id="14" name="chip 72"/>
          <p:cNvSpPr/>
          <p:nvPr/>
        </p:nvSpPr>
        <p:spPr>
          <a:xfrm>
            <a:off x="4480560" y="3024051"/>
            <a:ext cx="3657600" cy="3918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CHROM · POS · GREEN + SNR gate</a:t>
            </a:r>
            <a:endParaRPr lang="en-US" sz="1200" dirty="0"/>
          </a:p>
        </p:txBody>
      </p:sp>
      <p:sp>
        <p:nvSpPr>
          <p:cNvPr id="15" name="chip 73"/>
          <p:cNvSpPr/>
          <p:nvPr/>
        </p:nvSpPr>
        <p:spPr>
          <a:xfrm>
            <a:off x="4480560" y="3507377"/>
            <a:ext cx="3657600" cy="3918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TS-CAN · PhysNet · EfficientPhys</a:t>
            </a:r>
            <a:endParaRPr lang="en-US" sz="1200" dirty="0"/>
          </a:p>
        </p:txBody>
      </p:sp>
      <p:sp>
        <p:nvSpPr>
          <p:cNvPr id="16" name="chip 74"/>
          <p:cNvSpPr/>
          <p:nvPr/>
        </p:nvSpPr>
        <p:spPr>
          <a:xfrm>
            <a:off x="4480560" y="3990703"/>
            <a:ext cx="3657600" cy="3918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Robust consensus + display stabiliser</a:t>
            </a:r>
            <a:endParaRPr lang="en-US" sz="1200" dirty="0"/>
          </a:p>
        </p:txBody>
      </p:sp>
      <p:sp>
        <p:nvSpPr>
          <p:cNvPr id="17" name="chip 75"/>
          <p:cNvSpPr/>
          <p:nvPr/>
        </p:nvSpPr>
        <p:spPr>
          <a:xfrm>
            <a:off x="4480560" y="4474029"/>
            <a:ext cx="3657600" cy="3918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Breathing fusion · camera HRV</a:t>
            </a:r>
            <a:endParaRPr lang="en-US" sz="1200" dirty="0"/>
          </a:p>
        </p:txBody>
      </p:sp>
      <p:sp>
        <p:nvSpPr>
          <p:cNvPr id="18" name="chip 76"/>
          <p:cNvSpPr/>
          <p:nvPr/>
        </p:nvSpPr>
        <p:spPr>
          <a:xfrm>
            <a:off x="4480560" y="4957354"/>
            <a:ext cx="3657600" cy="3918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Face insights · colour indices</a:t>
            </a:r>
            <a:endParaRPr lang="en-US" sz="1200" dirty="0"/>
          </a:p>
        </p:txBody>
      </p:sp>
      <p:sp>
        <p:nvSpPr>
          <p:cNvPr id="19" name="tier 77"/>
          <p:cNvSpPr/>
          <p:nvPr/>
        </p:nvSpPr>
        <p:spPr>
          <a:xfrm>
            <a:off x="8823960" y="1325880"/>
            <a:ext cx="2816352" cy="4160520"/>
          </a:xfrm>
          <a:prstGeom prst="roundRect">
            <a:avLst>
              <a:gd name="adj" fmla="val 4545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chip 78"/>
          <p:cNvSpPr/>
          <p:nvPr/>
        </p:nvSpPr>
        <p:spPr>
          <a:xfrm>
            <a:off x="8961120" y="1463040"/>
            <a:ext cx="2542032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WEB DASHBOARD</a:t>
            </a:r>
            <a:endParaRPr lang="en-US" sz="1200" dirty="0"/>
          </a:p>
        </p:txBody>
      </p:sp>
      <p:sp>
        <p:nvSpPr>
          <p:cNvPr id="21" name="chip 79"/>
          <p:cNvSpPr/>
          <p:nvPr/>
        </p:nvSpPr>
        <p:spPr>
          <a:xfrm>
            <a:off x="8961120" y="2057400"/>
            <a:ext cx="2542032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2" name="chip 80"/>
          <p:cNvSpPr/>
          <p:nvPr/>
        </p:nvSpPr>
        <p:spPr>
          <a:xfrm>
            <a:off x="8961120" y="2734056"/>
            <a:ext cx="2542032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Signal Analysis</a:t>
            </a:r>
            <a:endParaRPr lang="en-US" sz="1200" dirty="0"/>
          </a:p>
        </p:txBody>
      </p:sp>
      <p:sp>
        <p:nvSpPr>
          <p:cNvPr id="23" name="chip 81"/>
          <p:cNvSpPr/>
          <p:nvPr/>
        </p:nvSpPr>
        <p:spPr>
          <a:xfrm>
            <a:off x="8961120" y="3410712"/>
            <a:ext cx="2542032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Diagnostics Studio</a:t>
            </a:r>
            <a:endParaRPr lang="en-US" sz="1200" dirty="0"/>
          </a:p>
        </p:txBody>
      </p:sp>
      <p:sp>
        <p:nvSpPr>
          <p:cNvPr id="24" name="chip 82"/>
          <p:cNvSpPr/>
          <p:nvPr/>
        </p:nvSpPr>
        <p:spPr>
          <a:xfrm>
            <a:off x="8961120" y="4087368"/>
            <a:ext cx="2542032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Sessions</a:t>
            </a:r>
            <a:endParaRPr lang="en-US" sz="1200" dirty="0"/>
          </a:p>
        </p:txBody>
      </p:sp>
      <p:sp>
        <p:nvSpPr>
          <p:cNvPr id="25" name="chip 83"/>
          <p:cNvSpPr/>
          <p:nvPr/>
        </p:nvSpPr>
        <p:spPr>
          <a:xfrm>
            <a:off x="8961120" y="4764024"/>
            <a:ext cx="2542032" cy="585216"/>
          </a:xfrm>
          <a:prstGeom prst="roundRect">
            <a:avLst>
              <a:gd name="adj" fmla="val 4687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Device telemetry</a:t>
            </a:r>
            <a:endParaRPr lang="en-US" sz="1200" dirty="0"/>
          </a:p>
        </p:txBody>
      </p:sp>
      <p:sp>
        <p:nvSpPr>
          <p:cNvPr id="26" name="arrow 84"/>
          <p:cNvSpPr/>
          <p:nvPr/>
        </p:nvSpPr>
        <p:spPr>
          <a:xfrm>
            <a:off x="3822192" y="3246120"/>
            <a:ext cx="493776" cy="310896"/>
          </a:xfrm>
          <a:prstGeom prst="left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27" name="arrow 85"/>
          <p:cNvSpPr/>
          <p:nvPr/>
        </p:nvSpPr>
        <p:spPr>
          <a:xfrm>
            <a:off x="8302752" y="3246120"/>
            <a:ext cx="493776" cy="310896"/>
          </a:xfrm>
          <a:prstGeom prst="left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28" name="chip 86"/>
          <p:cNvSpPr/>
          <p:nvPr/>
        </p:nvSpPr>
        <p:spPr>
          <a:xfrm>
            <a:off x="548640" y="5669280"/>
            <a:ext cx="7726680" cy="54864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Wi-Fi TCP :3333  → video 5 fps, skin sums 10 Hz, audio 4 kHz, µs time stamps   ← ROI boxes, exposure, vitals</a:t>
            </a:r>
            <a:endParaRPr lang="en-US" sz="1200" dirty="0"/>
          </a:p>
        </p:txBody>
      </p:sp>
      <p:sp>
        <p:nvSpPr>
          <p:cNvPr id="29" name="chip 87"/>
          <p:cNvSpPr/>
          <p:nvPr/>
        </p:nvSpPr>
        <p:spPr>
          <a:xfrm>
            <a:off x="8458200" y="5669280"/>
            <a:ext cx="3182112" cy="548640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 API polled 4× per second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Edge sensor node hardware</a:t>
            </a:r>
            <a:endParaRPr lang="en-US" sz="2600" dirty="0"/>
          </a:p>
        </p:txBody>
      </p:sp>
      <p:sp>
        <p:nvSpPr>
          <p:cNvPr id="3" name="frame 88"/>
          <p:cNvSpPr/>
          <p:nvPr/>
        </p:nvSpPr>
        <p:spPr>
          <a:xfrm>
            <a:off x="548640" y="1282525"/>
            <a:ext cx="6720840" cy="3287110"/>
          </a:xfrm>
          <a:prstGeom prst="roundRect">
            <a:avLst>
              <a:gd name="adj" fmla="val 2225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setup_labeled.png" descr="/Users/pratikkumar/Desktop/SEM5 Projects/SonicVitals/Report/Final Project report and ppt/build/figs/setup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5677"/>
            <a:ext cx="6574536" cy="3140806"/>
          </a:xfrm>
          <a:prstGeom prst="rect">
            <a:avLst/>
          </a:prstGeom>
        </p:spPr>
      </p:pic>
      <p:sp>
        <p:nvSpPr>
          <p:cNvPr id="5" name="stat 89"/>
          <p:cNvSpPr/>
          <p:nvPr/>
        </p:nvSpPr>
        <p:spPr>
          <a:xfrm>
            <a:off x="548640" y="4800600"/>
            <a:ext cx="2148840" cy="146304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 fps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240 × 160 camera frames</a:t>
            </a:r>
            <a:endParaRPr lang="en-US" sz="1200" dirty="0"/>
          </a:p>
        </p:txBody>
      </p:sp>
      <p:sp>
        <p:nvSpPr>
          <p:cNvPr id="6" name="stat 90"/>
          <p:cNvSpPr/>
          <p:nvPr/>
        </p:nvSpPr>
        <p:spPr>
          <a:xfrm>
            <a:off x="2834640" y="4800600"/>
            <a:ext cx="2148840" cy="1463040"/>
          </a:xfrm>
          <a:prstGeom prst="roundRect">
            <a:avLst>
              <a:gd name="adj" fmla="val 6250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16 kHz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microphone sampling (I2S)</a:t>
            </a:r>
            <a:endParaRPr lang="en-US" sz="1200" dirty="0"/>
          </a:p>
        </p:txBody>
      </p:sp>
      <p:sp>
        <p:nvSpPr>
          <p:cNvPr id="7" name="stat 91"/>
          <p:cNvSpPr/>
          <p:nvPr/>
        </p:nvSpPr>
        <p:spPr>
          <a:xfrm>
            <a:off x="5120640" y="4800600"/>
            <a:ext cx="2148840" cy="1463040"/>
          </a:xfrm>
          <a:prstGeom prst="roundRect">
            <a:avLst>
              <a:gd name="adj" fmla="val 6250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 clock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µs time stamps on video, skin sums and audio</a:t>
            </a:r>
            <a:endParaRPr lang="en-US" sz="1200" dirty="0"/>
          </a:p>
        </p:txBody>
      </p:sp>
      <p:sp>
        <p:nvSpPr>
          <p:cNvPr id="8" name="card 92"/>
          <p:cNvSpPr/>
          <p:nvPr/>
        </p:nvSpPr>
        <p:spPr>
          <a:xfrm>
            <a:off x="7498080" y="1280160"/>
            <a:ext cx="414223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ESP32-S3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Dual-core 240 MHz, PSRAM, Wi-Fi; two FreeRTOS tasks pinned to the two cores</a:t>
            </a:r>
            <a:endParaRPr lang="en-US" sz="1200" dirty="0"/>
          </a:p>
        </p:txBody>
      </p:sp>
      <p:sp>
        <p:nvSpPr>
          <p:cNvPr id="9" name="icon bg 93"/>
          <p:cNvSpPr/>
          <p:nvPr/>
        </p:nvSpPr>
        <p:spPr>
          <a:xfrm>
            <a:off x="768096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FaMicrochip 9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61" y="1720901"/>
            <a:ext cx="261518" cy="261518"/>
          </a:xfrm>
          <a:prstGeom prst="rect">
            <a:avLst/>
          </a:prstGeom>
        </p:spPr>
      </p:pic>
      <p:sp>
        <p:nvSpPr>
          <p:cNvPr id="11" name="card 95"/>
          <p:cNvSpPr/>
          <p:nvPr/>
        </p:nvSpPr>
        <p:spPr>
          <a:xfrm>
            <a:off x="7498080" y="2551176"/>
            <a:ext cx="414223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GC2145 camera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2 MP CMOS, RGB565; skin sums computed on raw pixels before JPEG</a:t>
            </a:r>
            <a:endParaRPr lang="en-US" sz="1200" dirty="0"/>
          </a:p>
        </p:txBody>
      </p:sp>
      <p:sp>
        <p:nvSpPr>
          <p:cNvPr id="12" name="icon bg 96"/>
          <p:cNvSpPr/>
          <p:nvPr/>
        </p:nvSpPr>
        <p:spPr>
          <a:xfrm>
            <a:off x="7680960" y="28712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aCamera 9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61" y="2991917"/>
            <a:ext cx="261518" cy="261518"/>
          </a:xfrm>
          <a:prstGeom prst="rect">
            <a:avLst/>
          </a:prstGeom>
        </p:spPr>
      </p:pic>
      <p:sp>
        <p:nvSpPr>
          <p:cNvPr id="14" name="card 98"/>
          <p:cNvSpPr/>
          <p:nvPr/>
        </p:nvSpPr>
        <p:spPr>
          <a:xfrm>
            <a:off x="7498080" y="3822192"/>
            <a:ext cx="414223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INMP441 microphone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24-bit I2S MEMS; 63-tap FIR, decimated to 4 kHz</a:t>
            </a:r>
            <a:endParaRPr lang="en-US" sz="1200" dirty="0"/>
          </a:p>
        </p:txBody>
      </p:sp>
      <p:sp>
        <p:nvSpPr>
          <p:cNvPr id="15" name="icon bg 99"/>
          <p:cNvSpPr/>
          <p:nvPr/>
        </p:nvSpPr>
        <p:spPr>
          <a:xfrm>
            <a:off x="7680960" y="414223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FaMicrophone 10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61" y="4262933"/>
            <a:ext cx="261518" cy="261518"/>
          </a:xfrm>
          <a:prstGeom prst="rect">
            <a:avLst/>
          </a:prstGeom>
        </p:spPr>
      </p:pic>
      <p:sp>
        <p:nvSpPr>
          <p:cNvPr id="17" name="card 101"/>
          <p:cNvSpPr/>
          <p:nvPr/>
        </p:nvSpPr>
        <p:spPr>
          <a:xfrm>
            <a:off x="7498080" y="5093208"/>
            <a:ext cx="414223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SSD1306 OLED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0.96 in, 128 × 64, I2C; shows heart rate, breathing and status</a:t>
            </a:r>
            <a:endParaRPr lang="en-US" sz="1200" dirty="0"/>
          </a:p>
        </p:txBody>
      </p:sp>
      <p:sp>
        <p:nvSpPr>
          <p:cNvPr id="18" name="icon bg 102"/>
          <p:cNvSpPr/>
          <p:nvPr/>
        </p:nvSpPr>
        <p:spPr>
          <a:xfrm>
            <a:off x="7680960" y="5413248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FaTv 10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661" y="5533949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Skin-metered exposure and the data link</a:t>
            </a:r>
            <a:endParaRPr lang="en-US" sz="2600" dirty="0"/>
          </a:p>
        </p:txBody>
      </p:sp>
      <p:sp>
        <p:nvSpPr>
          <p:cNvPr id="3" name="card 104"/>
          <p:cNvSpPr/>
          <p:nvPr/>
        </p:nvSpPr>
        <p:spPr>
          <a:xfrm>
            <a:off x="548640" y="1325880"/>
            <a:ext cx="194767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4124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Host sends skin boxes</a:t>
            </a:r>
            <a:endParaRPr lang="en-US" sz="1200" dirty="0"/>
          </a:p>
        </p:txBody>
      </p:sp>
      <p:sp>
        <p:nvSpPr>
          <p:cNvPr id="4" name="icon bg 10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aCrosshairs 1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640434"/>
            <a:ext cx="285293" cy="285293"/>
          </a:xfrm>
          <a:prstGeom prst="rect">
            <a:avLst/>
          </a:prstGeom>
        </p:spPr>
      </p:pic>
      <p:sp>
        <p:nvSpPr>
          <p:cNvPr id="6" name="arrow 107"/>
          <p:cNvSpPr/>
          <p:nvPr/>
        </p:nvSpPr>
        <p:spPr>
          <a:xfrm>
            <a:off x="2523744" y="2011680"/>
            <a:ext cx="292608" cy="329184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7" name="card 108"/>
          <p:cNvSpPr/>
          <p:nvPr/>
        </p:nvSpPr>
        <p:spPr>
          <a:xfrm>
            <a:off x="2834640" y="1325880"/>
            <a:ext cx="194767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4124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Node sums R, G, B on raw pixels</a:t>
            </a:r>
            <a:endParaRPr lang="en-US" sz="1200" dirty="0"/>
          </a:p>
        </p:txBody>
      </p:sp>
      <p:sp>
        <p:nvSpPr>
          <p:cNvPr id="8" name="icon bg 109"/>
          <p:cNvSpPr/>
          <p:nvPr/>
        </p:nvSpPr>
        <p:spPr>
          <a:xfrm>
            <a:off x="3017520" y="1508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FaMicrochip 1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194" y="1640434"/>
            <a:ext cx="285293" cy="285293"/>
          </a:xfrm>
          <a:prstGeom prst="rect">
            <a:avLst/>
          </a:prstGeom>
        </p:spPr>
      </p:pic>
      <p:sp>
        <p:nvSpPr>
          <p:cNvPr id="10" name="arrow 111"/>
          <p:cNvSpPr/>
          <p:nvPr/>
        </p:nvSpPr>
        <p:spPr>
          <a:xfrm>
            <a:off x="4809744" y="2011680"/>
            <a:ext cx="292608" cy="329184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1" name="card 112"/>
          <p:cNvSpPr/>
          <p:nvPr/>
        </p:nvSpPr>
        <p:spPr>
          <a:xfrm>
            <a:off x="5120640" y="1325880"/>
            <a:ext cx="194767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4124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Host meters skin brightness</a:t>
            </a:r>
            <a:endParaRPr lang="en-US" sz="1200" dirty="0"/>
          </a:p>
        </p:txBody>
      </p:sp>
      <p:sp>
        <p:nvSpPr>
          <p:cNvPr id="12" name="icon bg 113"/>
          <p:cNvSpPr/>
          <p:nvPr/>
        </p:nvSpPr>
        <p:spPr>
          <a:xfrm>
            <a:off x="53035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aSun 1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194" y="1640434"/>
            <a:ext cx="285293" cy="285293"/>
          </a:xfrm>
          <a:prstGeom prst="rect">
            <a:avLst/>
          </a:prstGeom>
        </p:spPr>
      </p:pic>
      <p:sp>
        <p:nvSpPr>
          <p:cNvPr id="14" name="arrow 115"/>
          <p:cNvSpPr/>
          <p:nvPr/>
        </p:nvSpPr>
        <p:spPr>
          <a:xfrm>
            <a:off x="7095744" y="2011680"/>
            <a:ext cx="292608" cy="329184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5" name="card 116"/>
          <p:cNvSpPr/>
          <p:nvPr/>
        </p:nvSpPr>
        <p:spPr>
          <a:xfrm>
            <a:off x="7406640" y="1325880"/>
            <a:ext cx="194767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4124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 with target 165 / 255</a:t>
            </a:r>
            <a:endParaRPr lang="en-US" sz="1200" dirty="0"/>
          </a:p>
        </p:txBody>
      </p:sp>
      <p:sp>
        <p:nvSpPr>
          <p:cNvPr id="16" name="icon bg 117"/>
          <p:cNvSpPr/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FaBalanceScale 1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194" y="1640434"/>
            <a:ext cx="285293" cy="285293"/>
          </a:xfrm>
          <a:prstGeom prst="rect">
            <a:avLst/>
          </a:prstGeom>
        </p:spPr>
      </p:pic>
      <p:sp>
        <p:nvSpPr>
          <p:cNvPr id="18" name="arrow 119"/>
          <p:cNvSpPr/>
          <p:nvPr/>
        </p:nvSpPr>
        <p:spPr>
          <a:xfrm>
            <a:off x="9381744" y="2011680"/>
            <a:ext cx="292608" cy="329184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9" name="card 120"/>
          <p:cNvSpPr/>
          <p:nvPr/>
        </p:nvSpPr>
        <p:spPr>
          <a:xfrm>
            <a:off x="9692640" y="1325880"/>
            <a:ext cx="194767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4124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CAM:EXP sets sensor exposure</a:t>
            </a:r>
            <a:endParaRPr lang="en-US" sz="1200" dirty="0"/>
          </a:p>
        </p:txBody>
      </p:sp>
      <p:sp>
        <p:nvSpPr>
          <p:cNvPr id="20" name="icon bg 121"/>
          <p:cNvSpPr/>
          <p:nvPr/>
        </p:nvSpPr>
        <p:spPr>
          <a:xfrm>
            <a:off x="98755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FaCogs 1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194" y="1640434"/>
            <a:ext cx="285293" cy="285293"/>
          </a:xfrm>
          <a:prstGeom prst="rect">
            <a:avLst/>
          </a:prstGeom>
        </p:spPr>
      </p:pic>
      <p:sp>
        <p:nvSpPr>
          <p:cNvPr id="22" name="card 123"/>
          <p:cNvSpPr/>
          <p:nvPr/>
        </p:nvSpPr>
        <p:spPr>
          <a:xfrm>
            <a:off x="548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Why meter the skin, not the frame?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Normal auto-exposure follows the whole picture: a bright window leaves the face dark, a dark room clips it. Metering only the skin keeps the face inside the sensor’s linear range, where the 0.1–0.5 % pulse survives. Saturated and near-black pixels are left out of the sums.</a:t>
            </a:r>
            <a:endParaRPr lang="en-US" sz="1200" dirty="0"/>
          </a:p>
        </p:txBody>
      </p:sp>
      <p:sp>
        <p:nvSpPr>
          <p:cNvPr id="23" name="icon bg 124"/>
          <p:cNvSpPr/>
          <p:nvPr/>
        </p:nvSpPr>
        <p:spPr>
          <a:xfrm>
            <a:off x="731520" y="45034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FaSun 1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1" y="4624121"/>
            <a:ext cx="261518" cy="261518"/>
          </a:xfrm>
          <a:prstGeom prst="rect">
            <a:avLst/>
          </a:prstGeom>
        </p:spPr>
      </p:pic>
      <p:sp>
        <p:nvSpPr>
          <p:cNvPr id="25" name="card 126"/>
          <p:cNvSpPr/>
          <p:nvPr/>
        </p:nvSpPr>
        <p:spPr>
          <a:xfrm>
            <a:off x="6172200" y="3291840"/>
            <a:ext cx="5468112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203200" tIns="152400" rIns="1270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Line protocol over TCP (port 3333)</a:t>
            </a:r>
            <a:endParaRPr lang="en-US" sz="1200" dirty="0"/>
          </a:p>
        </p:txBody>
      </p:sp>
      <p:sp>
        <p:nvSpPr>
          <p:cNvPr id="26" name="chip 127"/>
          <p:cNvSpPr/>
          <p:nvPr/>
        </p:nvSpPr>
        <p:spPr>
          <a:xfrm>
            <a:off x="6400800" y="388620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↑ FRAME  ·  JPEG video, 5 fps</a:t>
            </a:r>
            <a:endParaRPr lang="en-US" sz="1150" dirty="0"/>
          </a:p>
        </p:txBody>
      </p:sp>
      <p:sp>
        <p:nvSpPr>
          <p:cNvPr id="27" name="chip 128"/>
          <p:cNvSpPr/>
          <p:nvPr/>
        </p:nvSpPr>
        <p:spPr>
          <a:xfrm>
            <a:off x="8961120" y="388620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↑ RGB  ·  skin sums, 10 Hz</a:t>
            </a:r>
            <a:endParaRPr lang="en-US" sz="1150" dirty="0"/>
          </a:p>
        </p:txBody>
      </p:sp>
      <p:sp>
        <p:nvSpPr>
          <p:cNvPr id="28" name="chip 129"/>
          <p:cNvSpPr/>
          <p:nvPr/>
        </p:nvSpPr>
        <p:spPr>
          <a:xfrm>
            <a:off x="6400800" y="4453128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↑ AUDIO  ·  sound blocks</a:t>
            </a:r>
            <a:endParaRPr lang="en-US" sz="1150" dirty="0"/>
          </a:p>
        </p:txBody>
      </p:sp>
      <p:sp>
        <p:nvSpPr>
          <p:cNvPr id="29" name="chip 130"/>
          <p:cNvSpPr/>
          <p:nvPr/>
        </p:nvSpPr>
        <p:spPr>
          <a:xfrm>
            <a:off x="8961120" y="4453128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↑ INFO  ·  heap, stack, exposure</a:t>
            </a:r>
            <a:endParaRPr lang="en-US" sz="1150" dirty="0"/>
          </a:p>
        </p:txBody>
      </p:sp>
      <p:sp>
        <p:nvSpPr>
          <p:cNvPr id="30" name="chip 131"/>
          <p:cNvSpPr/>
          <p:nvPr/>
        </p:nvSpPr>
        <p:spPr>
          <a:xfrm>
            <a:off x="6400800" y="5120640"/>
            <a:ext cx="1591056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↓ ROI · skin boxes</a:t>
            </a:r>
            <a:endParaRPr lang="en-US" sz="1050" dirty="0"/>
          </a:p>
        </p:txBody>
      </p:sp>
      <p:sp>
        <p:nvSpPr>
          <p:cNvPr id="31" name="chip 132"/>
          <p:cNvSpPr/>
          <p:nvPr/>
        </p:nvSpPr>
        <p:spPr>
          <a:xfrm>
            <a:off x="8083296" y="5120640"/>
            <a:ext cx="1591056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↓ CAM:EXP · exposure</a:t>
            </a:r>
            <a:endParaRPr lang="en-US" sz="1050" dirty="0"/>
          </a:p>
        </p:txBody>
      </p:sp>
      <p:sp>
        <p:nvSpPr>
          <p:cNvPr id="32" name="chip 133"/>
          <p:cNvSpPr/>
          <p:nvPr/>
        </p:nvSpPr>
        <p:spPr>
          <a:xfrm>
            <a:off x="9765792" y="5120640"/>
            <a:ext cx="1591056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↓ VITALS · for OLED</a:t>
            </a:r>
            <a:endParaRPr lang="en-US" sz="1050" dirty="0"/>
          </a:p>
        </p:txBody>
      </p:sp>
      <p:sp>
        <p:nvSpPr>
          <p:cNvPr id="33" name="chip 134"/>
          <p:cNvSpPr/>
          <p:nvPr/>
        </p:nvSpPr>
        <p:spPr>
          <a:xfrm>
            <a:off x="6400800" y="5669280"/>
            <a:ext cx="502920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Newest frame sent first: a slow link drops frames instead of adding delay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Low-cost prototype</a:t>
            </a:r>
            <a:endParaRPr lang="en-US" sz="2600" dirty="0"/>
          </a:p>
        </p:txBody>
      </p:sp>
      <p:graphicFrame>
        <p:nvGraphicFramePr>
          <p:cNvPr id="10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camera board (with GC2145)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INMP441 I2S MEMS microphone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SSD1306 0.96 in OLED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 and harness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antenna, misc.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</a:tr>
            </a:tbl>
          </a:graphicData>
        </a:graphic>
      </p:graphicFrame>
      <p:sp>
        <p:nvSpPr>
          <p:cNvPr id="4" name="chart panel 135"/>
          <p:cNvSpPr/>
          <p:nvPr/>
        </p:nvSpPr>
        <p:spPr>
          <a:xfrm>
            <a:off x="6675120" y="1325880"/>
            <a:ext cx="4965192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chart_cost.png" descr="/Users/pratikkumar/Desktop/SEM5 Projects/SonicVitals/Report/Final Project report and ppt/build/deck_img/chart_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984" y="1380744"/>
            <a:ext cx="4855464" cy="3410712"/>
          </a:xfrm>
          <a:prstGeom prst="rect">
            <a:avLst/>
          </a:prstGeom>
        </p:spPr>
      </p:pic>
      <p:sp>
        <p:nvSpPr>
          <p:cNvPr id="6" name="stat 136"/>
          <p:cNvSpPr/>
          <p:nvPr/>
        </p:nvSpPr>
        <p:spPr>
          <a:xfrm>
            <a:off x="6675120" y="5029200"/>
            <a:ext cx="2395728" cy="1234440"/>
          </a:xfrm>
          <a:prstGeom prst="roundRect">
            <a:avLst>
              <a:gd name="adj" fmla="val 7407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₹2,150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complete edge node</a:t>
            </a:r>
            <a:endParaRPr lang="en-US" sz="1200" dirty="0"/>
          </a:p>
        </p:txBody>
      </p:sp>
      <p:sp>
        <p:nvSpPr>
          <p:cNvPr id="7" name="stat 137"/>
          <p:cNvSpPr/>
          <p:nvPr/>
        </p:nvSpPr>
        <p:spPr>
          <a:xfrm>
            <a:off x="9244584" y="5029200"/>
            <a:ext cx="2395728" cy="1234440"/>
          </a:xfrm>
          <a:prstGeom prst="roundRect">
            <a:avLst>
              <a:gd name="adj" fmla="val 7407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₹0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software: free and open source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Signal processing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51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From skin colour to one trustworthy heart rate</a:t>
            </a:r>
            <a:endParaRPr lang="en-US" sz="1800" dirty="0"/>
          </a:p>
        </p:txBody>
      </p:sp>
      <p:sp>
        <p:nvSpPr>
          <p:cNvPr id="5" name="deco circle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0F6A4A">
              <a:alpha val="8000"/>
            </a:srgbClr>
          </a:solidFill>
          <a:ln/>
        </p:spPr>
      </p:sp>
      <p:sp>
        <p:nvSpPr>
          <p:cNvPr id="6" name="deco circle 2"/>
          <p:cNvSpPr/>
          <p:nvPr/>
        </p:nvSpPr>
        <p:spPr>
          <a:xfrm>
            <a:off x="6035040" y="4480560"/>
            <a:ext cx="3108960" cy="3108960"/>
          </a:xfrm>
          <a:prstGeom prst="ellipse">
            <a:avLst/>
          </a:prstGeom>
          <a:solidFill>
            <a:srgbClr val="D98C00">
              <a:alpha val="10000"/>
            </a:srgbClr>
          </a:solidFill>
          <a:ln/>
        </p:spPr>
      </p:sp>
      <p:sp>
        <p:nvSpPr>
          <p:cNvPr id="7" name="frame 138"/>
          <p:cNvSpPr/>
          <p:nvPr/>
        </p:nvSpPr>
        <p:spPr>
          <a:xfrm>
            <a:off x="6217920" y="2020258"/>
            <a:ext cx="5440680" cy="2817485"/>
          </a:xfrm>
          <a:prstGeom prst="roundRect">
            <a:avLst>
              <a:gd name="adj" fmla="val 2596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Screenshot 2026-10-22 at 8.26.38 PM.png" descr="/Users/pratikkumar/Desktop/SEM5 Projects/SonicVitals/Report/Final Project report and ppt/Images/Screenshot 2026-10-22 at 8.26.38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2093410"/>
            <a:ext cx="5294376" cy="26711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Processing pipeline: eight stages</a:t>
            </a:r>
            <a:endParaRPr lang="en-US" sz="2600" dirty="0"/>
          </a:p>
        </p:txBody>
      </p:sp>
      <p:sp>
        <p:nvSpPr>
          <p:cNvPr id="3" name="card 139"/>
          <p:cNvSpPr/>
          <p:nvPr/>
        </p:nvSpPr>
        <p:spPr>
          <a:xfrm>
            <a:off x="548640" y="1325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Face and full-face gate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Haar cascade every 3rd frame; size, centring and both eyes checked</a:t>
            </a:r>
            <a:endParaRPr lang="en-US" sz="1200" dirty="0"/>
          </a:p>
        </p:txBody>
      </p:sp>
      <p:sp>
        <p:nvSpPr>
          <p:cNvPr id="4" name="number 140"/>
          <p:cNvSpPr/>
          <p:nvPr/>
        </p:nvSpPr>
        <p:spPr>
          <a:xfrm>
            <a:off x="731520" y="1508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arrow 141"/>
          <p:cNvSpPr/>
          <p:nvPr/>
        </p:nvSpPr>
        <p:spPr>
          <a:xfrm>
            <a:off x="3090672" y="2194560"/>
            <a:ext cx="265176" cy="31089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6" name="card 142"/>
          <p:cNvSpPr/>
          <p:nvPr/>
        </p:nvSpPr>
        <p:spPr>
          <a:xfrm>
            <a:off x="3383280" y="1325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Skin tracking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Forehead, cheeks and nose follow the face by sub-pixel phase correlation</a:t>
            </a:r>
            <a:endParaRPr lang="en-US" sz="1200" dirty="0"/>
          </a:p>
        </p:txBody>
      </p:sp>
      <p:sp>
        <p:nvSpPr>
          <p:cNvPr id="7" name="number 143"/>
          <p:cNvSpPr/>
          <p:nvPr/>
        </p:nvSpPr>
        <p:spPr>
          <a:xfrm>
            <a:off x="3566160" y="1508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arrow 144"/>
          <p:cNvSpPr/>
          <p:nvPr/>
        </p:nvSpPr>
        <p:spPr>
          <a:xfrm>
            <a:off x="5925312" y="2194560"/>
            <a:ext cx="265176" cy="31089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9" name="card 145"/>
          <p:cNvSpPr/>
          <p:nvPr/>
        </p:nvSpPr>
        <p:spPr>
          <a:xfrm>
            <a:off x="6217920" y="1325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Artifact repair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Jumps repaired in the derivative domain; still stretch after last movement</a:t>
            </a:r>
            <a:endParaRPr lang="en-US" sz="1200" dirty="0"/>
          </a:p>
        </p:txBody>
      </p:sp>
      <p:sp>
        <p:nvSpPr>
          <p:cNvPr id="10" name="number 146"/>
          <p:cNvSpPr/>
          <p:nvPr/>
        </p:nvSpPr>
        <p:spPr>
          <a:xfrm>
            <a:off x="6400800" y="1508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arrow 147"/>
          <p:cNvSpPr/>
          <p:nvPr/>
        </p:nvSpPr>
        <p:spPr>
          <a:xfrm>
            <a:off x="8759952" y="2194560"/>
            <a:ext cx="265176" cy="31089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2" name="card 148"/>
          <p:cNvSpPr/>
          <p:nvPr/>
        </p:nvSpPr>
        <p:spPr>
          <a:xfrm>
            <a:off x="9052560" y="1325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Illumination rectification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Background strips remove shared lighting flicker (gated)</a:t>
            </a:r>
            <a:endParaRPr lang="en-US" sz="1200" dirty="0"/>
          </a:p>
        </p:txBody>
      </p:sp>
      <p:sp>
        <p:nvSpPr>
          <p:cNvPr id="13" name="number 149"/>
          <p:cNvSpPr/>
          <p:nvPr/>
        </p:nvSpPr>
        <p:spPr>
          <a:xfrm>
            <a:off x="9235440" y="1508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card 150"/>
          <p:cNvSpPr/>
          <p:nvPr/>
        </p:nvSpPr>
        <p:spPr>
          <a:xfrm>
            <a:off x="548640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Pulse extraction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CHROM, POS and GREEN on the 15 Hz skin RGB</a:t>
            </a:r>
            <a:endParaRPr lang="en-US" sz="1200" dirty="0"/>
          </a:p>
        </p:txBody>
      </p:sp>
      <p:sp>
        <p:nvSpPr>
          <p:cNvPr id="15" name="number 151"/>
          <p:cNvSpPr/>
          <p:nvPr/>
        </p:nvSpPr>
        <p:spPr>
          <a:xfrm>
            <a:off x="731520" y="3794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6" name="arrow 152"/>
          <p:cNvSpPr/>
          <p:nvPr/>
        </p:nvSpPr>
        <p:spPr>
          <a:xfrm>
            <a:off x="3090672" y="4480560"/>
            <a:ext cx="265176" cy="31089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7" name="card 153"/>
          <p:cNvSpPr/>
          <p:nvPr/>
        </p:nvSpPr>
        <p:spPr>
          <a:xfrm>
            <a:off x="3383280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Spectrum and quality gate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Welch spectrum, SNR ≥ −2 dB, methods agree within 6 BPM</a:t>
            </a:r>
            <a:endParaRPr lang="en-US" sz="1200" dirty="0"/>
          </a:p>
        </p:txBody>
      </p:sp>
      <p:sp>
        <p:nvSpPr>
          <p:cNvPr id="18" name="number 154"/>
          <p:cNvSpPr/>
          <p:nvPr/>
        </p:nvSpPr>
        <p:spPr>
          <a:xfrm>
            <a:off x="3566160" y="3794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arrow 155"/>
          <p:cNvSpPr/>
          <p:nvPr/>
        </p:nvSpPr>
        <p:spPr>
          <a:xfrm>
            <a:off x="5925312" y="4480560"/>
            <a:ext cx="265176" cy="31089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20" name="card 156"/>
          <p:cNvSpPr/>
          <p:nvPr/>
        </p:nvSpPr>
        <p:spPr>
          <a:xfrm>
            <a:off x="6217920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Consensus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Classic + tracker + TS-CAN, PhysNet, EfficientPhys; median ± 8 BPM</a:t>
            </a:r>
            <a:endParaRPr lang="en-US" sz="1200" dirty="0"/>
          </a:p>
        </p:txBody>
      </p:sp>
      <p:sp>
        <p:nvSpPr>
          <p:cNvPr id="21" name="number 157"/>
          <p:cNvSpPr/>
          <p:nvPr/>
        </p:nvSpPr>
        <p:spPr>
          <a:xfrm>
            <a:off x="6400800" y="3794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2" name="arrow 158"/>
          <p:cNvSpPr/>
          <p:nvPr/>
        </p:nvSpPr>
        <p:spPr>
          <a:xfrm>
            <a:off x="8759952" y="4480560"/>
            <a:ext cx="265176" cy="31089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23" name="card 159"/>
          <p:cNvSpPr/>
          <p:nvPr/>
        </p:nvSpPr>
        <p:spPr>
          <a:xfrm>
            <a:off x="9052560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838200" rIns="1270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Stabilised display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Holds the value, flags rapid change; badges explain every reading</a:t>
            </a:r>
            <a:endParaRPr lang="en-US" sz="1200" dirty="0"/>
          </a:p>
        </p:txBody>
      </p:sp>
      <p:sp>
        <p:nvSpPr>
          <p:cNvPr id="24" name="number 160"/>
          <p:cNvSpPr/>
          <p:nvPr/>
        </p:nvSpPr>
        <p:spPr>
          <a:xfrm>
            <a:off x="9235440" y="3794760"/>
            <a:ext cx="548640" cy="548640"/>
          </a:xfrm>
          <a:prstGeom prst="ellipse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5" name="chip 161"/>
          <p:cNvSpPr/>
          <p:nvPr/>
        </p:nvSpPr>
        <p:spPr>
          <a:xfrm>
            <a:off x="548640" y="598932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1–4  Signal conditioning</a:t>
            </a:r>
            <a:endParaRPr lang="en-US" sz="1100" dirty="0"/>
          </a:p>
        </p:txBody>
      </p:sp>
      <p:sp>
        <p:nvSpPr>
          <p:cNvPr id="26" name="chip 162"/>
          <p:cNvSpPr/>
          <p:nvPr/>
        </p:nvSpPr>
        <p:spPr>
          <a:xfrm>
            <a:off x="3063240" y="598932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5–6  Pulse and gate</a:t>
            </a:r>
            <a:endParaRPr lang="en-US" sz="1100" dirty="0"/>
          </a:p>
        </p:txBody>
      </p:sp>
      <p:sp>
        <p:nvSpPr>
          <p:cNvPr id="27" name="chip 163"/>
          <p:cNvSpPr/>
          <p:nvPr/>
        </p:nvSpPr>
        <p:spPr>
          <a:xfrm>
            <a:off x="5303520" y="598932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7–8  Fusion and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Motion compensation lifts the pulse above noise</a:t>
            </a:r>
            <a:endParaRPr lang="en-US" sz="2600" dirty="0"/>
          </a:p>
        </p:txBody>
      </p:sp>
      <p:sp>
        <p:nvSpPr>
          <p:cNvPr id="3" name="stat 164"/>
          <p:cNvSpPr/>
          <p:nvPr/>
        </p:nvSpPr>
        <p:spPr>
          <a:xfrm>
            <a:off x="548640" y="1325880"/>
            <a:ext cx="5029200" cy="1417320"/>
          </a:xfrm>
          <a:prstGeom prst="roundRect">
            <a:avLst>
              <a:gd name="adj" fmla="val 6452"/>
            </a:avLst>
          </a:prstGeom>
          <a:solidFill>
            <a:schemeClr val="accent5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−4 … −9 dB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pulse SNR before: skin boxes slid over hair and background</a:t>
            </a:r>
            <a:endParaRPr lang="en-US" sz="1200" dirty="0"/>
          </a:p>
        </p:txBody>
      </p:sp>
      <p:sp>
        <p:nvSpPr>
          <p:cNvPr id="4" name="arrow 165"/>
          <p:cNvSpPr/>
          <p:nvPr/>
        </p:nvSpPr>
        <p:spPr>
          <a:xfrm>
            <a:off x="2788920" y="2834640"/>
            <a:ext cx="548640" cy="411480"/>
          </a:xfrm>
          <a:prstGeom prst="downArrow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5" name="stat 166"/>
          <p:cNvSpPr/>
          <p:nvPr/>
        </p:nvSpPr>
        <p:spPr>
          <a:xfrm>
            <a:off x="548640" y="3337560"/>
            <a:ext cx="502920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−1 … +1.5 dB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pulse SNR after, with a still head: above the −2 dB gate</a:t>
            </a:r>
            <a:endParaRPr lang="en-US" sz="1200" dirty="0"/>
          </a:p>
        </p:txBody>
      </p:sp>
      <p:sp>
        <p:nvSpPr>
          <p:cNvPr id="6" name="card 167"/>
          <p:cNvSpPr/>
          <p:nvPr/>
        </p:nvSpPr>
        <p:spPr>
          <a:xfrm>
            <a:off x="548640" y="4983480"/>
            <a:ext cx="502920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Key fix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tracking template is copied before phase correlation, so it no longer decays frame by frame.</a:t>
            </a:r>
            <a:endParaRPr lang="en-US" sz="1200" dirty="0"/>
          </a:p>
        </p:txBody>
      </p:sp>
      <p:sp>
        <p:nvSpPr>
          <p:cNvPr id="7" name="icon bg 168"/>
          <p:cNvSpPr/>
          <p:nvPr/>
        </p:nvSpPr>
        <p:spPr>
          <a:xfrm>
            <a:off x="731520" y="53721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FaCheckCircle 1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5492801"/>
            <a:ext cx="261518" cy="261518"/>
          </a:xfrm>
          <a:prstGeom prst="rect">
            <a:avLst/>
          </a:prstGeom>
        </p:spPr>
      </p:pic>
      <p:sp>
        <p:nvSpPr>
          <p:cNvPr id="9" name="card 170"/>
          <p:cNvSpPr/>
          <p:nvPr/>
        </p:nvSpPr>
        <p:spPr>
          <a:xfrm>
            <a:off x="5897880" y="1325880"/>
            <a:ext cx="5742432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Phase correlation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96 × 96 Hann-windowed face template; sub-pixel shift every frame</a:t>
            </a:r>
            <a:endParaRPr lang="en-US" sz="1200" dirty="0"/>
          </a:p>
        </p:txBody>
      </p:sp>
      <p:sp>
        <p:nvSpPr>
          <p:cNvPr id="10" name="icon bg 171"/>
          <p:cNvSpPr/>
          <p:nvPr/>
        </p:nvSpPr>
        <p:spPr>
          <a:xfrm>
            <a:off x="6080760" y="1632204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FaCrosshairs 17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461" y="1752905"/>
            <a:ext cx="261518" cy="261518"/>
          </a:xfrm>
          <a:prstGeom prst="rect">
            <a:avLst/>
          </a:prstGeom>
        </p:spPr>
      </p:pic>
      <p:sp>
        <p:nvSpPr>
          <p:cNvPr id="12" name="card 173"/>
          <p:cNvSpPr/>
          <p:nvPr/>
        </p:nvSpPr>
        <p:spPr>
          <a:xfrm>
            <a:off x="5897880" y="2578608"/>
            <a:ext cx="5742432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Incremental search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Starts from the last shift; accepted when response ≥ 0.15 and jump ≤ 0.12 face widths</a:t>
            </a:r>
            <a:endParaRPr lang="en-US" sz="1200" dirty="0"/>
          </a:p>
        </p:txBody>
      </p:sp>
      <p:sp>
        <p:nvSpPr>
          <p:cNvPr id="13" name="icon bg 174"/>
          <p:cNvSpPr/>
          <p:nvPr/>
        </p:nvSpPr>
        <p:spPr>
          <a:xfrm>
            <a:off x="6080760" y="28849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Search 17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461" y="3005633"/>
            <a:ext cx="261518" cy="261518"/>
          </a:xfrm>
          <a:prstGeom prst="rect">
            <a:avLst/>
          </a:prstGeom>
        </p:spPr>
      </p:pic>
      <p:sp>
        <p:nvSpPr>
          <p:cNvPr id="15" name="card 176"/>
          <p:cNvSpPr/>
          <p:nvPr/>
        </p:nvSpPr>
        <p:spPr>
          <a:xfrm>
            <a:off x="5897880" y="3831336"/>
            <a:ext cx="5742432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Automatic relock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Face detected again after 8 missed frames or more than 25 % drift</a:t>
            </a:r>
            <a:endParaRPr lang="en-US" sz="1200" dirty="0"/>
          </a:p>
        </p:txBody>
      </p:sp>
      <p:sp>
        <p:nvSpPr>
          <p:cNvPr id="16" name="icon bg 177"/>
          <p:cNvSpPr/>
          <p:nvPr/>
        </p:nvSpPr>
        <p:spPr>
          <a:xfrm>
            <a:off x="6080760" y="41376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FaMagic 17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461" y="4258361"/>
            <a:ext cx="261518" cy="261518"/>
          </a:xfrm>
          <a:prstGeom prst="rect">
            <a:avLst/>
          </a:prstGeom>
        </p:spPr>
      </p:pic>
      <p:sp>
        <p:nvSpPr>
          <p:cNvPr id="18" name="card 179"/>
          <p:cNvSpPr/>
          <p:nvPr/>
        </p:nvSpPr>
        <p:spPr>
          <a:xfrm>
            <a:off x="5897880" y="5084064"/>
            <a:ext cx="5742432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Fast enough for 30 fps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Detection every 3rd frame, background every 2nd: 21 → 10.6 ms per frame</a:t>
            </a:r>
            <a:endParaRPr lang="en-US" sz="1200" dirty="0"/>
          </a:p>
        </p:txBody>
      </p:sp>
      <p:sp>
        <p:nvSpPr>
          <p:cNvPr id="19" name="icon bg 180"/>
          <p:cNvSpPr/>
          <p:nvPr/>
        </p:nvSpPr>
        <p:spPr>
          <a:xfrm>
            <a:off x="6080760" y="5390388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FaBolt 18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461" y="5511089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Pulse extraction: three projections of skin colour</a:t>
            </a:r>
            <a:endParaRPr lang="en-US" sz="2600" dirty="0"/>
          </a:p>
        </p:txBody>
      </p:sp>
      <p:sp>
        <p:nvSpPr>
          <p:cNvPr id="3" name="card 182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203200" tIns="152400" rIns="152400" bIns="1270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CHROM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3R − 2G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1.5R + G − 1.5B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X − (σX / σY)·Y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s windows; cancels intensity and specular change</a:t>
            </a:r>
            <a:endParaRPr lang="en-US" sz="1200" dirty="0"/>
          </a:p>
        </p:txBody>
      </p:sp>
      <p:sp>
        <p:nvSpPr>
          <p:cNvPr id="4" name="card 183"/>
          <p:cNvSpPr/>
          <p:nvPr/>
        </p:nvSpPr>
        <p:spPr>
          <a:xfrm>
            <a:off x="4311396" y="13258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203200" tIns="152400" rIns="152400" bIns="1270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POS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= G − B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= −2R + G + B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S1 + (σS1 / σS2)·S2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1.6 s windows; plane orthogonal to skin tone</a:t>
            </a:r>
            <a:endParaRPr lang="en-US" sz="1200" dirty="0"/>
          </a:p>
        </p:txBody>
      </p:sp>
      <p:sp>
        <p:nvSpPr>
          <p:cNvPr id="5" name="card 184"/>
          <p:cNvSpPr/>
          <p:nvPr/>
        </p:nvSpPr>
        <p:spPr>
          <a:xfrm>
            <a:off x="8074152" y="13258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203200" tIns="152400" rIns="152400" bIns="1270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GREEN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detrended green channel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Reference only: strongest pulse, no motion rejection</a:t>
            </a:r>
            <a:endParaRPr lang="en-US" sz="1200" dirty="0"/>
          </a:p>
        </p:txBody>
      </p:sp>
      <p:sp>
        <p:nvSpPr>
          <p:cNvPr id="6" name="frame 185"/>
          <p:cNvSpPr/>
          <p:nvPr/>
        </p:nvSpPr>
        <p:spPr>
          <a:xfrm>
            <a:off x="795856" y="3657600"/>
            <a:ext cx="4626209" cy="26517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psd.png" descr="/Users/pratikkumar/Desktop/SEM5 Projects/SonicVitals/Report/Final Project report and ppt/build/deck_img/p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008" y="3730752"/>
            <a:ext cx="4479905" cy="2505456"/>
          </a:xfrm>
          <a:prstGeom prst="rect">
            <a:avLst/>
          </a:prstGeom>
        </p:spPr>
      </p:pic>
      <p:sp>
        <p:nvSpPr>
          <p:cNvPr id="8" name="card 186"/>
          <p:cNvSpPr/>
          <p:nvPr/>
        </p:nvSpPr>
        <p:spPr>
          <a:xfrm>
            <a:off x="5897880" y="3657600"/>
            <a:ext cx="5742432" cy="2651760"/>
          </a:xfrm>
          <a:prstGeom prst="roundRect">
            <a:avLst>
              <a:gd name="adj" fmla="val 3448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203200" tIns="177800" rIns="177800" bIns="12700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Spectrum and SNR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Welch spectrum of the pulse; heart-rate band 0.75–2.5 Hz (45–150 BPM); peak tracked near the last accepted value.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SNR = 10·log10 [ P(f0 ± 0.1 Hz) + P(2f0 ± 0.2 Hz) ] / P(rest of 0.5–4 Hz)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Quality gate: show a number only when it is real</a:t>
            </a:r>
            <a:endParaRPr lang="en-US" sz="2600" dirty="0"/>
          </a:p>
        </p:txBody>
      </p:sp>
      <p:sp>
        <p:nvSpPr>
          <p:cNvPr id="3" name="card 187"/>
          <p:cNvSpPr/>
          <p:nvPr/>
        </p:nvSpPr>
        <p:spPr>
          <a:xfrm>
            <a:off x="548640" y="1325880"/>
            <a:ext cx="51206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13232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SNR ≥ −2 dB (de Haan)</a:t>
            </a:r>
            <a:endParaRPr lang="en-US" sz="1200" dirty="0"/>
          </a:p>
        </p:txBody>
      </p:sp>
      <p:sp>
        <p:nvSpPr>
          <p:cNvPr id="4" name="icon bg 188"/>
          <p:cNvSpPr/>
          <p:nvPr/>
        </p:nvSpPr>
        <p:spPr>
          <a:xfrm>
            <a:off x="731520" y="14538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aCheckCircle 18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2" y="1546068"/>
            <a:ext cx="199705" cy="199705"/>
          </a:xfrm>
          <a:prstGeom prst="rect">
            <a:avLst/>
          </a:prstGeom>
        </p:spPr>
      </p:pic>
      <p:sp>
        <p:nvSpPr>
          <p:cNvPr id="6" name="card 190"/>
          <p:cNvSpPr/>
          <p:nvPr/>
        </p:nvSpPr>
        <p:spPr>
          <a:xfrm>
            <a:off x="548640" y="2084832"/>
            <a:ext cx="51206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13232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POS and GREEN agree with CHROM within 6 BPM</a:t>
            </a:r>
            <a:endParaRPr lang="en-US" sz="1200" dirty="0"/>
          </a:p>
        </p:txBody>
      </p:sp>
      <p:sp>
        <p:nvSpPr>
          <p:cNvPr id="7" name="icon bg 191"/>
          <p:cNvSpPr/>
          <p:nvPr/>
        </p:nvSpPr>
        <p:spPr>
          <a:xfrm>
            <a:off x="731520" y="22128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FaCheckCircle 19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2" y="2305020"/>
            <a:ext cx="199705" cy="199705"/>
          </a:xfrm>
          <a:prstGeom prst="rect">
            <a:avLst/>
          </a:prstGeom>
        </p:spPr>
      </p:pic>
      <p:sp>
        <p:nvSpPr>
          <p:cNvPr id="9" name="card 193"/>
          <p:cNvSpPr/>
          <p:nvPr/>
        </p:nvSpPr>
        <p:spPr>
          <a:xfrm>
            <a:off x="548640" y="2843784"/>
            <a:ext cx="51206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13232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≥ 80 % real frames, ≤ 15 % repaired</a:t>
            </a:r>
            <a:endParaRPr lang="en-US" sz="1200" dirty="0"/>
          </a:p>
        </p:txBody>
      </p:sp>
      <p:sp>
        <p:nvSpPr>
          <p:cNvPr id="10" name="icon bg 194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aCheckCircle 1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92" y="3063972"/>
            <a:ext cx="199705" cy="199705"/>
          </a:xfrm>
          <a:prstGeom prst="rect">
            <a:avLst/>
          </a:prstGeom>
        </p:spPr>
      </p:pic>
      <p:sp>
        <p:nvSpPr>
          <p:cNvPr id="12" name="card 196"/>
          <p:cNvSpPr/>
          <p:nvPr/>
        </p:nvSpPr>
        <p:spPr>
          <a:xfrm>
            <a:off x="548640" y="3602736"/>
            <a:ext cx="51206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13232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≥ 10 s of full-face, gated frames</a:t>
            </a:r>
            <a:endParaRPr lang="en-US" sz="1200" dirty="0"/>
          </a:p>
        </p:txBody>
      </p:sp>
      <p:sp>
        <p:nvSpPr>
          <p:cNvPr id="13" name="icon bg 197"/>
          <p:cNvSpPr/>
          <p:nvPr/>
        </p:nvSpPr>
        <p:spPr>
          <a:xfrm>
            <a:off x="731520" y="3730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heckCircle 19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" y="3822924"/>
            <a:ext cx="199705" cy="199705"/>
          </a:xfrm>
          <a:prstGeom prst="rect">
            <a:avLst/>
          </a:prstGeom>
        </p:spPr>
      </p:pic>
      <p:sp>
        <p:nvSpPr>
          <p:cNvPr id="15" name="card 199"/>
          <p:cNvSpPr/>
          <p:nvPr/>
        </p:nvSpPr>
        <p:spPr>
          <a:xfrm>
            <a:off x="548640" y="4361688"/>
            <a:ext cx="51206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13232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Peak inside 45–150 BPM, lighting peaks rejected</a:t>
            </a:r>
            <a:endParaRPr lang="en-US" sz="1200" dirty="0"/>
          </a:p>
        </p:txBody>
      </p:sp>
      <p:sp>
        <p:nvSpPr>
          <p:cNvPr id="16" name="icon bg 200"/>
          <p:cNvSpPr/>
          <p:nvPr/>
        </p:nvSpPr>
        <p:spPr>
          <a:xfrm>
            <a:off x="731520" y="44897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FaCheckCircle 20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92" y="4581876"/>
            <a:ext cx="199705" cy="199705"/>
          </a:xfrm>
          <a:prstGeom prst="rect">
            <a:avLst/>
          </a:prstGeom>
        </p:spPr>
      </p:pic>
      <p:sp>
        <p:nvSpPr>
          <p:cNvPr id="18" name="stat 202"/>
          <p:cNvSpPr/>
          <p:nvPr/>
        </p:nvSpPr>
        <p:spPr>
          <a:xfrm>
            <a:off x="548640" y="5257800"/>
            <a:ext cx="2468880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1.56 BPM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MAE with the gate (2.30 without)</a:t>
            </a:r>
            <a:endParaRPr lang="en-US" sz="1200" dirty="0"/>
          </a:p>
        </p:txBody>
      </p:sp>
      <p:sp>
        <p:nvSpPr>
          <p:cNvPr id="19" name="stat 203"/>
          <p:cNvSpPr/>
          <p:nvPr/>
        </p:nvSpPr>
        <p:spPr>
          <a:xfrm>
            <a:off x="3200400" y="5257800"/>
            <a:ext cx="2468880" cy="1051560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19 %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hardest windows withheld, not shown wrong</a:t>
            </a:r>
            <a:endParaRPr lang="en-US" sz="1200" dirty="0"/>
          </a:p>
        </p:txBody>
      </p:sp>
      <p:sp>
        <p:nvSpPr>
          <p:cNvPr id="20" name="frame 204"/>
          <p:cNvSpPr/>
          <p:nvPr/>
        </p:nvSpPr>
        <p:spPr>
          <a:xfrm>
            <a:off x="5897880" y="1312685"/>
            <a:ext cx="5742432" cy="4095470"/>
          </a:xfrm>
          <a:prstGeom prst="roundRect">
            <a:avLst>
              <a:gd name="adj" fmla="val 1786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Screenshot 2026-10-22 at 8.26.06 PM.png" descr="/Users/pratikkumar/Desktop/SEM5 Projects/SonicVitals/Report/Final Project report and ppt/Images/Screenshot 2026-10-22 at 8.26.06 P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1385837"/>
            <a:ext cx="5596128" cy="3949166"/>
          </a:xfrm>
          <a:prstGeom prst="rect">
            <a:avLst/>
          </a:prstGeom>
        </p:spPr>
      </p:pic>
      <p:sp>
        <p:nvSpPr>
          <p:cNvPr id="22" name="chip 205"/>
          <p:cNvSpPr/>
          <p:nvPr/>
        </p:nvSpPr>
        <p:spPr>
          <a:xfrm>
            <a:off x="5897880" y="5669280"/>
            <a:ext cx="5742432" cy="5029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Live: pulse SNR (black) against the −2 dB gate (dashed); amber = methods agreeing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Robust consensus: seven methods, one heart rate</a:t>
            </a:r>
            <a:endParaRPr lang="en-US" sz="2600" dirty="0"/>
          </a:p>
        </p:txBody>
      </p:sp>
      <p:sp>
        <p:nvSpPr>
          <p:cNvPr id="3" name="chip 206"/>
          <p:cNvSpPr/>
          <p:nvPr/>
        </p:nvSpPr>
        <p:spPr>
          <a:xfrm>
            <a:off x="548640" y="132588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CHROM</a:t>
            </a:r>
            <a:endParaRPr lang="en-US" sz="1200" dirty="0"/>
          </a:p>
        </p:txBody>
      </p:sp>
      <p:sp>
        <p:nvSpPr>
          <p:cNvPr id="4" name="chip 207"/>
          <p:cNvSpPr/>
          <p:nvPr/>
        </p:nvSpPr>
        <p:spPr>
          <a:xfrm>
            <a:off x="1965960" y="132588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</a:t>
            </a:r>
            <a:endParaRPr lang="en-US" sz="1200" dirty="0"/>
          </a:p>
        </p:txBody>
      </p:sp>
      <p:sp>
        <p:nvSpPr>
          <p:cNvPr id="5" name="chip 208"/>
          <p:cNvSpPr/>
          <p:nvPr/>
        </p:nvSpPr>
        <p:spPr>
          <a:xfrm>
            <a:off x="3383280" y="132588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GREEN</a:t>
            </a:r>
            <a:endParaRPr lang="en-US" sz="1200" dirty="0"/>
          </a:p>
        </p:txBody>
      </p:sp>
      <p:sp>
        <p:nvSpPr>
          <p:cNvPr id="6" name="chip 209"/>
          <p:cNvSpPr/>
          <p:nvPr/>
        </p:nvSpPr>
        <p:spPr>
          <a:xfrm>
            <a:off x="4800600" y="132588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Bayes tracker</a:t>
            </a:r>
            <a:endParaRPr lang="en-US" sz="1200" dirty="0"/>
          </a:p>
        </p:txBody>
      </p:sp>
      <p:sp>
        <p:nvSpPr>
          <p:cNvPr id="7" name="chip 210"/>
          <p:cNvSpPr/>
          <p:nvPr/>
        </p:nvSpPr>
        <p:spPr>
          <a:xfrm>
            <a:off x="548640" y="1874520"/>
            <a:ext cx="1801368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TS-CAN</a:t>
            </a:r>
            <a:endParaRPr lang="en-US" sz="1200" dirty="0"/>
          </a:p>
        </p:txBody>
      </p:sp>
      <p:sp>
        <p:nvSpPr>
          <p:cNvPr id="8" name="chip 211"/>
          <p:cNvSpPr/>
          <p:nvPr/>
        </p:nvSpPr>
        <p:spPr>
          <a:xfrm>
            <a:off x="2441448" y="1874520"/>
            <a:ext cx="1801368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PhysNet</a:t>
            </a:r>
            <a:endParaRPr lang="en-US" sz="1200" dirty="0"/>
          </a:p>
        </p:txBody>
      </p:sp>
      <p:sp>
        <p:nvSpPr>
          <p:cNvPr id="9" name="chip 212"/>
          <p:cNvSpPr/>
          <p:nvPr/>
        </p:nvSpPr>
        <p:spPr>
          <a:xfrm>
            <a:off x="4334256" y="1874520"/>
            <a:ext cx="1801368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EfficientPhys</a:t>
            </a:r>
            <a:endParaRPr lang="en-US" sz="1200" dirty="0"/>
          </a:p>
        </p:txBody>
      </p:sp>
      <p:sp>
        <p:nvSpPr>
          <p:cNvPr id="10" name="arrow 213"/>
          <p:cNvSpPr/>
          <p:nvPr/>
        </p:nvSpPr>
        <p:spPr>
          <a:xfrm>
            <a:off x="3108960" y="2423160"/>
            <a:ext cx="457200" cy="365760"/>
          </a:xfrm>
          <a:prstGeom prst="down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1" name="card 214"/>
          <p:cNvSpPr/>
          <p:nvPr/>
        </p:nvSpPr>
        <p:spPr>
          <a:xfrm>
            <a:off x="548640" y="2852928"/>
            <a:ext cx="55778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Median → keep methods within ± 8 BPM → average</a:t>
            </a:r>
            <a:endParaRPr lang="en-US" sz="1200" dirty="0"/>
          </a:p>
        </p:txBody>
      </p:sp>
      <p:sp>
        <p:nvSpPr>
          <p:cNvPr id="12" name="icon bg 215"/>
          <p:cNvSpPr/>
          <p:nvPr/>
        </p:nvSpPr>
        <p:spPr>
          <a:xfrm>
            <a:off x="731520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aBalanceScale 2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145536"/>
            <a:ext cx="237744" cy="237744"/>
          </a:xfrm>
          <a:prstGeom prst="rect">
            <a:avLst/>
          </a:prstGeom>
        </p:spPr>
      </p:pic>
      <p:sp>
        <p:nvSpPr>
          <p:cNvPr id="14" name="arrow 217"/>
          <p:cNvSpPr/>
          <p:nvPr/>
        </p:nvSpPr>
        <p:spPr>
          <a:xfrm>
            <a:off x="3108960" y="3730752"/>
            <a:ext cx="457200" cy="365760"/>
          </a:xfrm>
          <a:prstGeom prst="down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5" name="chip 218"/>
          <p:cNvSpPr/>
          <p:nvPr/>
        </p:nvSpPr>
        <p:spPr>
          <a:xfrm>
            <a:off x="548640" y="4160520"/>
            <a:ext cx="2724912" cy="685800"/>
          </a:xfrm>
          <a:prstGeom prst="roundRect">
            <a:avLst>
              <a:gd name="adj" fmla="val 40000"/>
            </a:avLst>
          </a:prstGeom>
          <a:solidFill>
            <a:schemeClr val="accent2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≥ 3 methods and ≥ half agree → value shown</a:t>
            </a:r>
            <a:endParaRPr lang="en-US" sz="1150" dirty="0"/>
          </a:p>
        </p:txBody>
      </p:sp>
      <p:sp>
        <p:nvSpPr>
          <p:cNvPr id="16" name="chip 219"/>
          <p:cNvSpPr/>
          <p:nvPr/>
        </p:nvSpPr>
        <p:spPr>
          <a:xfrm>
            <a:off x="3401568" y="4160520"/>
            <a:ext cx="2724912" cy="685800"/>
          </a:xfrm>
          <a:prstGeom prst="roundRect">
            <a:avLst>
              <a:gd name="adj" fmla="val 40000"/>
            </a:avLst>
          </a:prstGeom>
          <a:solidFill>
            <a:schemeClr val="accent1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≥ 4 methods, 60 % + a deep model → CONFIRMED</a:t>
            </a:r>
            <a:endParaRPr lang="en-US" sz="1150" dirty="0"/>
          </a:p>
        </p:txBody>
      </p:sp>
      <p:sp>
        <p:nvSpPr>
          <p:cNvPr id="17" name="card 220"/>
          <p:cNvSpPr/>
          <p:nvPr/>
        </p:nvSpPr>
        <p:spPr>
          <a:xfrm>
            <a:off x="548640" y="5029200"/>
            <a:ext cx="5577840" cy="1261872"/>
          </a:xfrm>
          <a:prstGeom prst="roundRect">
            <a:avLst>
              <a:gd name="adj" fmla="val 7246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76 BPM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 OF 7 METHODS AGREE  ·  TS-CAN LEFT OUT</a:t>
            </a:r>
            <a:endParaRPr lang="en-US" sz="1200" dirty="0"/>
          </a:p>
        </p:txBody>
      </p:sp>
      <p:sp>
        <p:nvSpPr>
          <p:cNvPr id="18" name="frame 221"/>
          <p:cNvSpPr/>
          <p:nvPr/>
        </p:nvSpPr>
        <p:spPr>
          <a:xfrm>
            <a:off x="6355080" y="1383993"/>
            <a:ext cx="5285232" cy="3998574"/>
          </a:xfrm>
          <a:prstGeom prst="roundRect">
            <a:avLst>
              <a:gd name="adj" fmla="val 1829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methods_table.png" descr="/Users/pratikkumar/Desktop/SEM5 Projects/SonicVitals/Report/Final Project report and ppt/build/deck_img/methods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457145"/>
            <a:ext cx="5138928" cy="3852270"/>
          </a:xfrm>
          <a:prstGeom prst="rect">
            <a:avLst/>
          </a:prstGeom>
        </p:spPr>
      </p:pic>
      <p:sp>
        <p:nvSpPr>
          <p:cNvPr id="20" name="chip 222"/>
          <p:cNvSpPr/>
          <p:nvPr/>
        </p:nvSpPr>
        <p:spPr>
          <a:xfrm>
            <a:off x="6355080" y="5715000"/>
            <a:ext cx="5285232" cy="50292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Live comparison on the same face, at the same moment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Display stabiliser: steady values, honest flags</a:t>
            </a:r>
            <a:endParaRPr lang="en-US" sz="2600" dirty="0"/>
          </a:p>
        </p:txBody>
      </p:sp>
      <p:sp>
        <p:nvSpPr>
          <p:cNvPr id="3" name="card 223"/>
          <p:cNvSpPr/>
          <p:nvPr/>
        </p:nvSpPr>
        <p:spPr>
          <a:xfrm>
            <a:off x="548640" y="1325880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STABLE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≥ 4 methods agree incl. a deep model</a:t>
            </a:r>
            <a:endParaRPr lang="en-US" sz="1200" dirty="0"/>
          </a:p>
        </p:txBody>
      </p:sp>
      <p:sp>
        <p:nvSpPr>
          <p:cNvPr id="4" name="card 224"/>
          <p:cNvSpPr/>
          <p:nvPr/>
        </p:nvSpPr>
        <p:spPr>
          <a:xfrm>
            <a:off x="2514600" y="1325880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CHANGE CONFIRMED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new level seen 4 times</a:t>
            </a:r>
            <a:endParaRPr lang="en-US" sz="1200" dirty="0"/>
          </a:p>
        </p:txBody>
      </p:sp>
      <p:sp>
        <p:nvSpPr>
          <p:cNvPr id="5" name="card 225"/>
          <p:cNvSpPr/>
          <p:nvPr/>
        </p:nvSpPr>
        <p:spPr>
          <a:xfrm>
            <a:off x="4480560" y="1325880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5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</a:rPr>
              <a:t>ACQUIRING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collecting first estimates</a:t>
            </a:r>
            <a:endParaRPr lang="en-US" sz="1200" dirty="0"/>
          </a:p>
        </p:txBody>
      </p:sp>
      <p:sp>
        <p:nvSpPr>
          <p:cNvPr id="6" name="card 226"/>
          <p:cNvSpPr/>
          <p:nvPr/>
        </p:nvSpPr>
        <p:spPr>
          <a:xfrm>
            <a:off x="548640" y="2624328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LOW CONFIDENCE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value shown, fewer methods agree</a:t>
            </a:r>
            <a:endParaRPr lang="en-US" sz="1200" dirty="0"/>
          </a:p>
        </p:txBody>
      </p:sp>
      <p:sp>
        <p:nvSpPr>
          <p:cNvPr id="7" name="card 227"/>
          <p:cNvSpPr/>
          <p:nvPr/>
        </p:nvSpPr>
        <p:spPr>
          <a:xfrm>
            <a:off x="2514600" y="2624328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HOLDING LAST VALUE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no fresh estimate, up to 15 s</a:t>
            </a:r>
            <a:endParaRPr lang="en-US" sz="1200" dirty="0"/>
          </a:p>
        </p:txBody>
      </p:sp>
      <p:sp>
        <p:nvSpPr>
          <p:cNvPr id="8" name="card 228"/>
          <p:cNvSpPr/>
          <p:nvPr/>
        </p:nvSpPr>
        <p:spPr>
          <a:xfrm>
            <a:off x="4480560" y="2624328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5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</a:rPr>
              <a:t>NO SIGNAL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no face or usable pulse</a:t>
            </a:r>
            <a:endParaRPr lang="en-US" sz="1200" dirty="0"/>
          </a:p>
        </p:txBody>
      </p:sp>
      <p:sp>
        <p:nvSpPr>
          <p:cNvPr id="9" name="card 229"/>
          <p:cNvSpPr/>
          <p:nvPr/>
        </p:nvSpPr>
        <p:spPr>
          <a:xfrm>
            <a:off x="548640" y="3922776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4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RAPID CHANGE – HELD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jump &gt; 8 BPM not yet confirmed</a:t>
            </a:r>
            <a:endParaRPr lang="en-US" sz="1200" dirty="0"/>
          </a:p>
        </p:txBody>
      </p:sp>
      <p:sp>
        <p:nvSpPr>
          <p:cNvPr id="10" name="card 230"/>
          <p:cNvSpPr/>
          <p:nvPr/>
        </p:nvSpPr>
        <p:spPr>
          <a:xfrm>
            <a:off x="2514600" y="3922776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4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UNSTABLE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estimates scatter widely</a:t>
            </a:r>
            <a:endParaRPr lang="en-US" sz="1200" dirty="0"/>
          </a:p>
        </p:txBody>
      </p:sp>
      <p:sp>
        <p:nvSpPr>
          <p:cNvPr id="11" name="card 231"/>
          <p:cNvSpPr/>
          <p:nvPr/>
        </p:nvSpPr>
        <p:spPr>
          <a:xfrm>
            <a:off x="4480560" y="3922776"/>
            <a:ext cx="1856232" cy="1188720"/>
          </a:xfrm>
          <a:prstGeom prst="roundRect">
            <a:avLst>
              <a:gd name="adj" fmla="val 7692"/>
            </a:avLst>
          </a:prstGeom>
          <a:solidFill>
            <a:schemeClr val="accent4">
              <a:alpha val="12000"/>
            </a:schemeClr>
          </a:solidFill>
          <a:ln/>
        </p:spPr>
        <p:txBody>
          <a:bodyPr wrap="square" lIns="127000" tIns="76200" rIns="1016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METHODS DISAGREE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no majority within ± 8 BPM</a:t>
            </a:r>
            <a:endParaRPr lang="en-US" sz="1200" dirty="0"/>
          </a:p>
        </p:txBody>
      </p:sp>
      <p:sp>
        <p:nvSpPr>
          <p:cNvPr id="12" name="stat 232"/>
          <p:cNvSpPr/>
          <p:nvPr/>
        </p:nvSpPr>
        <p:spPr>
          <a:xfrm>
            <a:off x="548640" y="5321808"/>
            <a:ext cx="1856232" cy="960120"/>
          </a:xfrm>
          <a:prstGeom prst="roundRect">
            <a:avLst>
              <a:gd name="adj" fmla="val 9524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8 BPM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jump threshold</a:t>
            </a:r>
            <a:endParaRPr lang="en-US" sz="1200" dirty="0"/>
          </a:p>
        </p:txBody>
      </p:sp>
      <p:sp>
        <p:nvSpPr>
          <p:cNvPr id="13" name="stat 233"/>
          <p:cNvSpPr/>
          <p:nvPr/>
        </p:nvSpPr>
        <p:spPr>
          <a:xfrm>
            <a:off x="2514600" y="5321808"/>
            <a:ext cx="1856232" cy="960120"/>
          </a:xfrm>
          <a:prstGeom prst="roundRect">
            <a:avLst>
              <a:gd name="adj" fmla="val 9524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× 4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confirmations</a:t>
            </a:r>
            <a:endParaRPr lang="en-US" sz="1200" dirty="0"/>
          </a:p>
        </p:txBody>
      </p:sp>
      <p:sp>
        <p:nvSpPr>
          <p:cNvPr id="14" name="stat 234"/>
          <p:cNvSpPr/>
          <p:nvPr/>
        </p:nvSpPr>
        <p:spPr>
          <a:xfrm>
            <a:off x="4480560" y="5321808"/>
            <a:ext cx="1856232" cy="960120"/>
          </a:xfrm>
          <a:prstGeom prst="roundRect">
            <a:avLst>
              <a:gd name="adj" fmla="val 9524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15 s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hold time</a:t>
            </a:r>
            <a:endParaRPr lang="en-US" sz="1200" dirty="0"/>
          </a:p>
        </p:txBody>
      </p:sp>
      <p:sp>
        <p:nvSpPr>
          <p:cNvPr id="15" name="frame 235"/>
          <p:cNvSpPr/>
          <p:nvPr/>
        </p:nvSpPr>
        <p:spPr>
          <a:xfrm>
            <a:off x="6537960" y="1411651"/>
            <a:ext cx="5102352" cy="3714659"/>
          </a:xfrm>
          <a:prstGeom prst="roundRect">
            <a:avLst>
              <a:gd name="adj" fmla="val 1969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Screenshot 2026-10-22 at 8.26.16 PM.png" descr="/Users/pratikkumar/Desktop/SEM5 Projects/SonicVitals/Report/Final Project report and ppt/Images/Screenshot 2026-10-22 at 8.26.16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484803"/>
            <a:ext cx="4956048" cy="3568355"/>
          </a:xfrm>
          <a:prstGeom prst="rect">
            <a:avLst/>
          </a:prstGeom>
        </p:spPr>
      </p:pic>
      <p:sp>
        <p:nvSpPr>
          <p:cNvPr id="17" name="chip 236"/>
          <p:cNvSpPr/>
          <p:nvPr/>
        </p:nvSpPr>
        <p:spPr>
          <a:xfrm>
            <a:off x="6537960" y="5440680"/>
            <a:ext cx="5102352" cy="685800"/>
          </a:xfrm>
          <a:prstGeom prst="roundRect">
            <a:avLst>
              <a:gd name="adj" fmla="val 4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Heart-rate history: card value, accepted (filled) and rejected (hollow) estimates, red flags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Breathing rate: four sources, one agreement</a:t>
            </a:r>
            <a:endParaRPr lang="en-US" sz="2600" dirty="0"/>
          </a:p>
        </p:txBody>
      </p:sp>
      <p:sp>
        <p:nvSpPr>
          <p:cNvPr id="3" name="card 237"/>
          <p:cNvSpPr/>
          <p:nvPr/>
        </p:nvSpPr>
        <p:spPr>
          <a:xfrm>
            <a:off x="548640" y="1325880"/>
            <a:ext cx="267004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Skin brightness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RIIV</a:t>
            </a:r>
            <a:endParaRPr lang="en-US" sz="1200" dirty="0"/>
          </a:p>
        </p:txBody>
      </p:sp>
      <p:sp>
        <p:nvSpPr>
          <p:cNvPr id="4" name="icon bg 238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FaSun 2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64208"/>
            <a:ext cx="237744" cy="237744"/>
          </a:xfrm>
          <a:prstGeom prst="rect">
            <a:avLst/>
          </a:prstGeom>
        </p:spPr>
      </p:pic>
      <p:sp>
        <p:nvSpPr>
          <p:cNvPr id="6" name="card 240"/>
          <p:cNvSpPr/>
          <p:nvPr/>
        </p:nvSpPr>
        <p:spPr>
          <a:xfrm>
            <a:off x="3337560" y="1325880"/>
            <a:ext cx="267004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Pulse height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RIAV</a:t>
            </a:r>
            <a:endParaRPr lang="en-US" sz="1200" dirty="0"/>
          </a:p>
        </p:txBody>
      </p:sp>
      <p:sp>
        <p:nvSpPr>
          <p:cNvPr id="7" name="icon bg 241"/>
          <p:cNvSpPr/>
          <p:nvPr/>
        </p:nvSpPr>
        <p:spPr>
          <a:xfrm>
            <a:off x="352044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FaWaveSquare 2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664208"/>
            <a:ext cx="237744" cy="237744"/>
          </a:xfrm>
          <a:prstGeom prst="rect">
            <a:avLst/>
          </a:prstGeom>
        </p:spPr>
      </p:pic>
      <p:sp>
        <p:nvSpPr>
          <p:cNvPr id="9" name="card 243"/>
          <p:cNvSpPr/>
          <p:nvPr/>
        </p:nvSpPr>
        <p:spPr>
          <a:xfrm>
            <a:off x="548640" y="2350008"/>
            <a:ext cx="267004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Pulse rate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RIFV</a:t>
            </a:r>
            <a:endParaRPr lang="en-US" sz="1200" dirty="0"/>
          </a:p>
        </p:txBody>
      </p:sp>
      <p:sp>
        <p:nvSpPr>
          <p:cNvPr id="10" name="icon bg 244"/>
          <p:cNvSpPr/>
          <p:nvPr/>
        </p:nvSpPr>
        <p:spPr>
          <a:xfrm>
            <a:off x="731520" y="2578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FaHeartbeat 2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88336"/>
            <a:ext cx="237744" cy="237744"/>
          </a:xfrm>
          <a:prstGeom prst="rect">
            <a:avLst/>
          </a:prstGeom>
        </p:spPr>
      </p:pic>
      <p:sp>
        <p:nvSpPr>
          <p:cNvPr id="12" name="card 246"/>
          <p:cNvSpPr/>
          <p:nvPr/>
        </p:nvSpPr>
        <p:spPr>
          <a:xfrm>
            <a:off x="3337560" y="2350008"/>
            <a:ext cx="267004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Head motion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vertical sway</a:t>
            </a:r>
            <a:endParaRPr lang="en-US" sz="1200" dirty="0"/>
          </a:p>
        </p:txBody>
      </p:sp>
      <p:sp>
        <p:nvSpPr>
          <p:cNvPr id="13" name="icon bg 247"/>
          <p:cNvSpPr/>
          <p:nvPr/>
        </p:nvSpPr>
        <p:spPr>
          <a:xfrm>
            <a:off x="3520440" y="257860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FaArrowsAlt 2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688336"/>
            <a:ext cx="237744" cy="237744"/>
          </a:xfrm>
          <a:prstGeom prst="rect">
            <a:avLst/>
          </a:prstGeom>
        </p:spPr>
      </p:pic>
      <p:sp>
        <p:nvSpPr>
          <p:cNvPr id="15" name="arrow 249"/>
          <p:cNvSpPr/>
          <p:nvPr/>
        </p:nvSpPr>
        <p:spPr>
          <a:xfrm>
            <a:off x="3026664" y="3429000"/>
            <a:ext cx="502920" cy="347472"/>
          </a:xfrm>
          <a:prstGeom prst="down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6" name="card 250"/>
          <p:cNvSpPr/>
          <p:nvPr/>
        </p:nvSpPr>
        <p:spPr>
          <a:xfrm>
            <a:off x="548640" y="3840480"/>
            <a:ext cx="5458968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177800" tIns="1016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Agreement fusion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bg1"/>
                </a:solidFill>
              </a:rPr>
              <a:t>Detrend 0.07 Hz · whiten · search 6–36 /min · ≥ 2 sources within 4 /min · ≥ 20 s of still data</a:t>
            </a:r>
            <a:endParaRPr lang="en-US" sz="1200" dirty="0"/>
          </a:p>
        </p:txBody>
      </p:sp>
      <p:sp>
        <p:nvSpPr>
          <p:cNvPr id="17" name="chip 251"/>
          <p:cNvSpPr/>
          <p:nvPr/>
        </p:nvSpPr>
        <p:spPr>
          <a:xfrm>
            <a:off x="548640" y="5212080"/>
            <a:ext cx="5458968" cy="457200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Pattern:  REGULAR  ·  IRREGULAR (CV &gt; 30 %)  ·  PAUSE (≥ 8 s)</a:t>
            </a:r>
            <a:endParaRPr lang="en-US" sz="1200" dirty="0"/>
          </a:p>
        </p:txBody>
      </p:sp>
      <p:sp>
        <p:nvSpPr>
          <p:cNvPr id="18" name="chip 252"/>
          <p:cNvSpPr/>
          <p:nvPr/>
        </p:nvSpPr>
        <p:spPr>
          <a:xfrm>
            <a:off x="548640" y="5788152"/>
            <a:ext cx="5458968" cy="457200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Live: card 18–19 /min vs 16–20 /min counted on the graph</a:t>
            </a:r>
            <a:endParaRPr lang="en-US" sz="1200" dirty="0"/>
          </a:p>
        </p:txBody>
      </p:sp>
      <p:sp>
        <p:nvSpPr>
          <p:cNvPr id="19" name="chart panel 253"/>
          <p:cNvSpPr/>
          <p:nvPr/>
        </p:nvSpPr>
        <p:spPr>
          <a:xfrm>
            <a:off x="6263640" y="1325880"/>
            <a:ext cx="5376672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0" name="chart_rr.png" descr="/Users/pratikkumar/Desktop/SEM5 Projects/SonicVitals/Report/Final Project report and ppt/build/deck_img/chart_r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380744"/>
            <a:ext cx="5266944" cy="3136392"/>
          </a:xfrm>
          <a:prstGeom prst="rect">
            <a:avLst/>
          </a:prstGeom>
        </p:spPr>
      </p:pic>
      <p:sp>
        <p:nvSpPr>
          <p:cNvPr id="21" name="frame 254"/>
          <p:cNvSpPr/>
          <p:nvPr/>
        </p:nvSpPr>
        <p:spPr>
          <a:xfrm>
            <a:off x="6387639" y="4709160"/>
            <a:ext cx="5128673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Screenshot 2026-10-22 at 8.51.11 PM.png" descr="/Users/pratikkumar/Desktop/SEM5 Projects/SonicVitals/Report/Final Project report and ppt/Images/Screenshot 2026-10-22 at 8.51.11 P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791" y="4782312"/>
            <a:ext cx="4982369" cy="1499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Heart-rate variability from the camera</a:t>
            </a:r>
            <a:endParaRPr lang="en-US" sz="2600" dirty="0"/>
          </a:p>
        </p:txBody>
      </p:sp>
      <p:sp>
        <p:nvSpPr>
          <p:cNvPr id="3" name="card 255"/>
          <p:cNvSpPr/>
          <p:nvPr/>
        </p:nvSpPr>
        <p:spPr>
          <a:xfrm>
            <a:off x="548640" y="1325880"/>
            <a:ext cx="502920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82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Beat times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CHROM pulse at 30 Hz, band 0.7–3.5 Hz, spline × 8, peaks ≥ 0.6 beat apart</a:t>
            </a:r>
            <a:endParaRPr lang="en-US" sz="1200" dirty="0"/>
          </a:p>
        </p:txBody>
      </p:sp>
      <p:sp>
        <p:nvSpPr>
          <p:cNvPr id="4" name="number 256"/>
          <p:cNvSpPr/>
          <p:nvPr/>
        </p:nvSpPr>
        <p:spPr>
          <a:xfrm>
            <a:off x="731520" y="1627632"/>
            <a:ext cx="502920" cy="502920"/>
          </a:xfrm>
          <a:prstGeom prst="ellipse">
            <a:avLst>
              <a:gd name="adj" fmla="val 1818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ard 257"/>
          <p:cNvSpPr/>
          <p:nvPr/>
        </p:nvSpPr>
        <p:spPr>
          <a:xfrm>
            <a:off x="548640" y="2578608"/>
            <a:ext cx="502920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82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Clean intervals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Within ± 20 % of the median; ≥ 15 intervals and ≥ 80 % clean</a:t>
            </a:r>
            <a:endParaRPr lang="en-US" sz="1200" dirty="0"/>
          </a:p>
        </p:txBody>
      </p:sp>
      <p:sp>
        <p:nvSpPr>
          <p:cNvPr id="6" name="number 258"/>
          <p:cNvSpPr/>
          <p:nvPr/>
        </p:nvSpPr>
        <p:spPr>
          <a:xfrm>
            <a:off x="731520" y="2880360"/>
            <a:ext cx="502920" cy="502920"/>
          </a:xfrm>
          <a:prstGeom prst="ellipse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card 259"/>
          <p:cNvSpPr/>
          <p:nvPr/>
        </p:nvSpPr>
        <p:spPr>
          <a:xfrm>
            <a:off x="548640" y="3831336"/>
            <a:ext cx="502920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82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RMSSD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√ mean of squared differences of successive intervals</a:t>
            </a:r>
            <a:endParaRPr lang="en-US" sz="1200" dirty="0"/>
          </a:p>
        </p:txBody>
      </p:sp>
      <p:sp>
        <p:nvSpPr>
          <p:cNvPr id="8" name="number 260"/>
          <p:cNvSpPr/>
          <p:nvPr/>
        </p:nvSpPr>
        <p:spPr>
          <a:xfrm>
            <a:off x="731520" y="4133088"/>
            <a:ext cx="502920" cy="502920"/>
          </a:xfrm>
          <a:prstGeom prst="ellipse">
            <a:avLst>
              <a:gd name="adj" fmla="val 1818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9" name="card 261"/>
          <p:cNvSpPr/>
          <p:nvPr/>
        </p:nvSpPr>
        <p:spPr>
          <a:xfrm>
            <a:off x="548640" y="5084064"/>
            <a:ext cx="502920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82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Shown only when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≥ 20 fps, pulse SNR ≥ +1 dB, result 5–150 ms, HR within 8 BPM of the card</a:t>
            </a:r>
            <a:endParaRPr lang="en-US" sz="1200" dirty="0"/>
          </a:p>
        </p:txBody>
      </p:sp>
      <p:sp>
        <p:nvSpPr>
          <p:cNvPr id="10" name="number 262"/>
          <p:cNvSpPr/>
          <p:nvPr/>
        </p:nvSpPr>
        <p:spPr>
          <a:xfrm>
            <a:off x="731520" y="5385816"/>
            <a:ext cx="502920" cy="502920"/>
          </a:xfrm>
          <a:prstGeom prst="ellipse">
            <a:avLst>
              <a:gd name="adj" fmla="val 18182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frame 263"/>
          <p:cNvSpPr/>
          <p:nvPr/>
        </p:nvSpPr>
        <p:spPr>
          <a:xfrm>
            <a:off x="5852160" y="1324880"/>
            <a:ext cx="5788152" cy="2790920"/>
          </a:xfrm>
          <a:prstGeom prst="roundRect">
            <a:avLst>
              <a:gd name="adj" fmla="val 2621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hrv_snr.png" descr="/Users/pratikkumar/Desktop/SEM5 Projects/SonicVitals/Report/Final Project report and ppt/build/figs/hrv_sn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398032"/>
            <a:ext cx="5641848" cy="2644616"/>
          </a:xfrm>
          <a:prstGeom prst="rect">
            <a:avLst/>
          </a:prstGeom>
        </p:spPr>
      </p:pic>
      <p:sp>
        <p:nvSpPr>
          <p:cNvPr id="13" name="stat 264"/>
          <p:cNvSpPr/>
          <p:nvPr/>
        </p:nvSpPr>
        <p:spPr>
          <a:xfrm>
            <a:off x="5852160" y="4389120"/>
            <a:ext cx="278892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11 ms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RMSSD error at +1 dB pulse SNR</a:t>
            </a:r>
            <a:endParaRPr lang="en-US" sz="1200" dirty="0"/>
          </a:p>
        </p:txBody>
      </p:sp>
      <p:sp>
        <p:nvSpPr>
          <p:cNvPr id="14" name="stat 265"/>
          <p:cNvSpPr/>
          <p:nvPr/>
        </p:nvSpPr>
        <p:spPr>
          <a:xfrm>
            <a:off x="8851392" y="4389120"/>
            <a:ext cx="278892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64 ms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error at −2 dB: why HRV is gated</a:t>
            </a:r>
            <a:endParaRPr lang="en-US" sz="1200" dirty="0"/>
          </a:p>
        </p:txBody>
      </p:sp>
      <p:sp>
        <p:nvSpPr>
          <p:cNvPr id="15" name="chip 266"/>
          <p:cNvSpPr/>
          <p:nvPr/>
        </p:nvSpPr>
        <p:spPr>
          <a:xfrm>
            <a:off x="5852160" y="5852160"/>
            <a:ext cx="5788152" cy="41148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Beat timing needs a clean pulse: noise shifts peaks by tens of ms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Face insights and dashboard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51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Blood flow, liveness, blinks, head steadiness and the analysis views</a:t>
            </a:r>
            <a:endParaRPr lang="en-US" sz="1800" dirty="0"/>
          </a:p>
        </p:txBody>
      </p:sp>
      <p:sp>
        <p:nvSpPr>
          <p:cNvPr id="5" name="deco circle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0F6A4A">
              <a:alpha val="8000"/>
            </a:srgbClr>
          </a:solidFill>
          <a:ln/>
        </p:spPr>
      </p:sp>
      <p:sp>
        <p:nvSpPr>
          <p:cNvPr id="6" name="deco circle 2"/>
          <p:cNvSpPr/>
          <p:nvPr/>
        </p:nvSpPr>
        <p:spPr>
          <a:xfrm>
            <a:off x="6035040" y="4480560"/>
            <a:ext cx="3108960" cy="3108960"/>
          </a:xfrm>
          <a:prstGeom prst="ellipse">
            <a:avLst/>
          </a:prstGeom>
          <a:solidFill>
            <a:srgbClr val="D98C00">
              <a:alpha val="10000"/>
            </a:srgbClr>
          </a:solidFill>
          <a:ln/>
        </p:spPr>
      </p:sp>
      <p:sp>
        <p:nvSpPr>
          <p:cNvPr id="7" name="frame 267"/>
          <p:cNvSpPr/>
          <p:nvPr/>
        </p:nvSpPr>
        <p:spPr>
          <a:xfrm>
            <a:off x="7051409" y="1097280"/>
            <a:ext cx="3773701" cy="4663440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map_rg.png" descr="/Users/pratikkumar/Desktop/SEM5 Projects/SonicVitals/Report/Final Project report and ppt/build/deck_img/map_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561" y="1170432"/>
            <a:ext cx="3627397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Face insights from the same camera</a:t>
            </a:r>
            <a:endParaRPr lang="en-US" sz="2600" dirty="0"/>
          </a:p>
        </p:txBody>
      </p:sp>
      <p:sp>
        <p:nvSpPr>
          <p:cNvPr id="3" name="frame 268"/>
          <p:cNvSpPr/>
          <p:nvPr/>
        </p:nvSpPr>
        <p:spPr>
          <a:xfrm>
            <a:off x="548640" y="1280160"/>
            <a:ext cx="7563499" cy="36576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nsights_cards.png" descr="/Users/pratikkumar/Desktop/SEM5 Projects/SonicVitals/Report/Final Project report and ppt/build/deck_img/insights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7417195" cy="3511296"/>
          </a:xfrm>
          <a:prstGeom prst="rect">
            <a:avLst/>
          </a:prstGeom>
        </p:spPr>
      </p:pic>
      <p:sp>
        <p:nvSpPr>
          <p:cNvPr id="5" name="frame 269"/>
          <p:cNvSpPr/>
          <p:nvPr/>
        </p:nvSpPr>
        <p:spPr>
          <a:xfrm>
            <a:off x="8275320" y="1439853"/>
            <a:ext cx="3364992" cy="3338214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live_map.png" descr="/Users/pratikkumar/Desktop/SEM5 Projects/SonicVitals/Report/Final Project report and ppt/build/deck_img/live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1513005"/>
            <a:ext cx="3218688" cy="3191910"/>
          </a:xfrm>
          <a:prstGeom prst="rect">
            <a:avLst/>
          </a:prstGeom>
        </p:spPr>
      </p:pic>
      <p:sp>
        <p:nvSpPr>
          <p:cNvPr id="7" name="card 270"/>
          <p:cNvSpPr/>
          <p:nvPr/>
        </p:nvSpPr>
        <p:spPr>
          <a:xfrm>
            <a:off x="548640" y="5166360"/>
            <a:ext cx="176479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676656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Blood-flow map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30 s still capture</a:t>
            </a:r>
            <a:endParaRPr lang="en-US" sz="1200" dirty="0"/>
          </a:p>
        </p:txBody>
      </p:sp>
      <p:sp>
        <p:nvSpPr>
          <p:cNvPr id="8" name="icon bg 271"/>
          <p:cNvSpPr/>
          <p:nvPr/>
        </p:nvSpPr>
        <p:spPr>
          <a:xfrm>
            <a:off x="731520" y="534924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FaTint 27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92" y="5441412"/>
            <a:ext cx="199705" cy="199705"/>
          </a:xfrm>
          <a:prstGeom prst="rect">
            <a:avLst/>
          </a:prstGeom>
        </p:spPr>
      </p:pic>
      <p:sp>
        <p:nvSpPr>
          <p:cNvPr id="10" name="card 273"/>
          <p:cNvSpPr/>
          <p:nvPr/>
        </p:nvSpPr>
        <p:spPr>
          <a:xfrm>
            <a:off x="2418588" y="5166360"/>
            <a:ext cx="176479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676656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Liveness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pulse or blinks</a:t>
            </a:r>
            <a:endParaRPr lang="en-US" sz="1200" dirty="0"/>
          </a:p>
        </p:txBody>
      </p:sp>
      <p:sp>
        <p:nvSpPr>
          <p:cNvPr id="11" name="icon bg 274"/>
          <p:cNvSpPr/>
          <p:nvPr/>
        </p:nvSpPr>
        <p:spPr>
          <a:xfrm>
            <a:off x="2601468" y="5349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aUserCheck 2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640" y="5441412"/>
            <a:ext cx="199705" cy="199705"/>
          </a:xfrm>
          <a:prstGeom prst="rect">
            <a:avLst/>
          </a:prstGeom>
        </p:spPr>
      </p:pic>
      <p:sp>
        <p:nvSpPr>
          <p:cNvPr id="13" name="card 276"/>
          <p:cNvSpPr/>
          <p:nvPr/>
        </p:nvSpPr>
        <p:spPr>
          <a:xfrm>
            <a:off x="4288536" y="5166360"/>
            <a:ext cx="176479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676656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Perfusion index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pulse strength %</a:t>
            </a:r>
            <a:endParaRPr lang="en-US" sz="1200" dirty="0"/>
          </a:p>
        </p:txBody>
      </p:sp>
      <p:sp>
        <p:nvSpPr>
          <p:cNvPr id="14" name="icon bg 277"/>
          <p:cNvSpPr/>
          <p:nvPr/>
        </p:nvSpPr>
        <p:spPr>
          <a:xfrm>
            <a:off x="4471416" y="534924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FaHeartbeat 27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588" y="5441412"/>
            <a:ext cx="199705" cy="199705"/>
          </a:xfrm>
          <a:prstGeom prst="rect">
            <a:avLst/>
          </a:prstGeom>
        </p:spPr>
      </p:pic>
      <p:sp>
        <p:nvSpPr>
          <p:cNvPr id="16" name="card 279"/>
          <p:cNvSpPr/>
          <p:nvPr/>
        </p:nvSpPr>
        <p:spPr>
          <a:xfrm>
            <a:off x="6158484" y="5166360"/>
            <a:ext cx="176479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676656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Breathing pattern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regular / pause</a:t>
            </a:r>
            <a:endParaRPr lang="en-US" sz="1200" dirty="0"/>
          </a:p>
        </p:txBody>
      </p:sp>
      <p:sp>
        <p:nvSpPr>
          <p:cNvPr id="17" name="icon bg 280"/>
          <p:cNvSpPr/>
          <p:nvPr/>
        </p:nvSpPr>
        <p:spPr>
          <a:xfrm>
            <a:off x="6341364" y="5349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FaLungs 28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3536" y="5441412"/>
            <a:ext cx="199705" cy="199705"/>
          </a:xfrm>
          <a:prstGeom prst="rect">
            <a:avLst/>
          </a:prstGeom>
        </p:spPr>
      </p:pic>
      <p:sp>
        <p:nvSpPr>
          <p:cNvPr id="19" name="card 282"/>
          <p:cNvSpPr/>
          <p:nvPr/>
        </p:nvSpPr>
        <p:spPr>
          <a:xfrm>
            <a:off x="8028432" y="5166360"/>
            <a:ext cx="176479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676656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Blink rate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eye aspect ratio</a:t>
            </a:r>
            <a:endParaRPr lang="en-US" sz="1200" dirty="0"/>
          </a:p>
        </p:txBody>
      </p:sp>
      <p:sp>
        <p:nvSpPr>
          <p:cNvPr id="20" name="icon bg 283"/>
          <p:cNvSpPr/>
          <p:nvPr/>
        </p:nvSpPr>
        <p:spPr>
          <a:xfrm>
            <a:off x="8211312" y="534924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FaEye 28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3484" y="5441412"/>
            <a:ext cx="199705" cy="199705"/>
          </a:xfrm>
          <a:prstGeom prst="rect">
            <a:avLst/>
          </a:prstGeom>
        </p:spPr>
      </p:pic>
      <p:sp>
        <p:nvSpPr>
          <p:cNvPr id="22" name="card 285"/>
          <p:cNvSpPr/>
          <p:nvPr/>
        </p:nvSpPr>
        <p:spPr>
          <a:xfrm>
            <a:off x="9898380" y="5166360"/>
            <a:ext cx="176479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676656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Head steadiness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RMS movement</a:t>
            </a:r>
            <a:endParaRPr lang="en-US" sz="1200" dirty="0"/>
          </a:p>
        </p:txBody>
      </p:sp>
      <p:sp>
        <p:nvSpPr>
          <p:cNvPr id="23" name="icon bg 286"/>
          <p:cNvSpPr/>
          <p:nvPr/>
        </p:nvSpPr>
        <p:spPr>
          <a:xfrm>
            <a:off x="10081260" y="53492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FaCrosshairs 28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3432" y="5441412"/>
            <a:ext cx="199705" cy="1997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Blood-flow map and perfusion index</a:t>
            </a:r>
            <a:endParaRPr lang="en-US" sz="2600" dirty="0"/>
          </a:p>
        </p:txBody>
      </p:sp>
      <p:sp>
        <p:nvSpPr>
          <p:cNvPr id="3" name="card 288"/>
          <p:cNvSpPr/>
          <p:nvPr/>
        </p:nvSpPr>
        <p:spPr>
          <a:xfrm>
            <a:off x="548640" y="1325880"/>
            <a:ext cx="402336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74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32 × 32 skin cells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colour trace of every cell over a 30 s still capture</a:t>
            </a:r>
            <a:endParaRPr lang="en-US" sz="1200" dirty="0"/>
          </a:p>
        </p:txBody>
      </p:sp>
      <p:sp>
        <p:nvSpPr>
          <p:cNvPr id="4" name="number 289"/>
          <p:cNvSpPr/>
          <p:nvPr/>
        </p:nvSpPr>
        <p:spPr>
          <a:xfrm>
            <a:off x="713232" y="1655064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card 290"/>
          <p:cNvSpPr/>
          <p:nvPr/>
        </p:nvSpPr>
        <p:spPr>
          <a:xfrm>
            <a:off x="548640" y="2578608"/>
            <a:ext cx="402336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74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Lock-in at the heart rate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in-phase amplitude against the face-wide pulse</a:t>
            </a:r>
            <a:endParaRPr lang="en-US" sz="1200" dirty="0"/>
          </a:p>
        </p:txBody>
      </p:sp>
      <p:sp>
        <p:nvSpPr>
          <p:cNvPr id="6" name="number 291"/>
          <p:cNvSpPr/>
          <p:nvPr/>
        </p:nvSpPr>
        <p:spPr>
          <a:xfrm>
            <a:off x="713232" y="2907792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card 292"/>
          <p:cNvSpPr/>
          <p:nvPr/>
        </p:nvSpPr>
        <p:spPr>
          <a:xfrm>
            <a:off x="548640" y="3831336"/>
            <a:ext cx="402336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74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Noise-referenced score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z against off-frequency noise; z ≥ 2.5 coloured</a:t>
            </a:r>
            <a:endParaRPr lang="en-US" sz="1200" dirty="0"/>
          </a:p>
        </p:txBody>
      </p:sp>
      <p:sp>
        <p:nvSpPr>
          <p:cNvPr id="8" name="number 293"/>
          <p:cNvSpPr/>
          <p:nvPr/>
        </p:nvSpPr>
        <p:spPr>
          <a:xfrm>
            <a:off x="713232" y="416052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card 294"/>
          <p:cNvSpPr/>
          <p:nvPr/>
        </p:nvSpPr>
        <p:spPr>
          <a:xfrm>
            <a:off x="548640" y="5084064"/>
            <a:ext cx="4023360" cy="1115568"/>
          </a:xfrm>
          <a:prstGeom prst="roundRect">
            <a:avLst>
              <a:gd name="adj" fmla="val 819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7400" tIns="76200" rIns="127000" bIns="762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Robust capture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restarts on &gt; 3 % movement; coarser grid if coverage &lt; 30 %</a:t>
            </a:r>
            <a:endParaRPr lang="en-US" sz="1200" dirty="0"/>
          </a:p>
        </p:txBody>
      </p:sp>
      <p:sp>
        <p:nvSpPr>
          <p:cNvPr id="10" name="number 295"/>
          <p:cNvSpPr/>
          <p:nvPr/>
        </p:nvSpPr>
        <p:spPr>
          <a:xfrm>
            <a:off x="713232" y="5413248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1" name="frame 296"/>
          <p:cNvSpPr/>
          <p:nvPr/>
        </p:nvSpPr>
        <p:spPr>
          <a:xfrm>
            <a:off x="4800600" y="128016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synthetic_map.png" descr="/Users/pratikkumar/Desktop/SEM5 Projects/SonicVitals/Report/Final Project report and ppt/build/figs/synthetic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353312"/>
            <a:ext cx="3145536" cy="3145536"/>
          </a:xfrm>
          <a:prstGeom prst="rect">
            <a:avLst/>
          </a:prstGeom>
        </p:spPr>
      </p:pic>
      <p:sp>
        <p:nvSpPr>
          <p:cNvPr id="13" name="frame 297"/>
          <p:cNvSpPr/>
          <p:nvPr/>
        </p:nvSpPr>
        <p:spPr>
          <a:xfrm>
            <a:off x="8348472" y="1293245"/>
            <a:ext cx="3291840" cy="3265671"/>
          </a:xfrm>
          <a:prstGeom prst="roundRect">
            <a:avLst>
              <a:gd name="adj" fmla="val 2240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live_map.png" descr="/Users/pratikkumar/Desktop/SEM5 Projects/SonicVitals/Report/Final Project report and ppt/build/deck_img/live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4" y="1366397"/>
            <a:ext cx="3145536" cy="3119367"/>
          </a:xfrm>
          <a:prstGeom prst="rect">
            <a:avLst/>
          </a:prstGeom>
        </p:spPr>
      </p:pic>
      <p:sp>
        <p:nvSpPr>
          <p:cNvPr id="15" name="chip 298"/>
          <p:cNvSpPr/>
          <p:nvPr/>
        </p:nvSpPr>
        <p:spPr>
          <a:xfrm>
            <a:off x="4937760" y="4663440"/>
            <a:ext cx="301752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Synthetic test face (validation)</a:t>
            </a:r>
            <a:endParaRPr lang="en-US" sz="1100" dirty="0"/>
          </a:p>
        </p:txBody>
      </p:sp>
      <p:sp>
        <p:nvSpPr>
          <p:cNvPr id="16" name="chip 299"/>
          <p:cNvSpPr/>
          <p:nvPr/>
        </p:nvSpPr>
        <p:spPr>
          <a:xfrm>
            <a:off x="8485632" y="4663440"/>
            <a:ext cx="301752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 capture from the webcam</a:t>
            </a:r>
            <a:endParaRPr lang="en-US" sz="1100" dirty="0"/>
          </a:p>
        </p:txBody>
      </p:sp>
      <p:sp>
        <p:nvSpPr>
          <p:cNvPr id="17" name="stat 300"/>
          <p:cNvSpPr/>
          <p:nvPr/>
        </p:nvSpPr>
        <p:spPr>
          <a:xfrm>
            <a:off x="4800600" y="5230368"/>
            <a:ext cx="2194560" cy="1051560"/>
          </a:xfrm>
          <a:prstGeom prst="roundRect">
            <a:avLst>
              <a:gd name="adj" fmla="val 8696"/>
            </a:avLst>
          </a:prstGeom>
          <a:solidFill>
            <a:schemeClr val="accent5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94 %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synthetic skin mapped</a:t>
            </a:r>
            <a:endParaRPr lang="en-US" sz="1200" dirty="0"/>
          </a:p>
        </p:txBody>
      </p:sp>
      <p:sp>
        <p:nvSpPr>
          <p:cNvPr id="18" name="stat 301"/>
          <p:cNvSpPr/>
          <p:nvPr/>
        </p:nvSpPr>
        <p:spPr>
          <a:xfrm>
            <a:off x="7123176" y="5230368"/>
            <a:ext cx="2194560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7 → 46 %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live skin mapped</a:t>
            </a:r>
            <a:endParaRPr lang="en-US" sz="1200" dirty="0"/>
          </a:p>
        </p:txBody>
      </p:sp>
      <p:sp>
        <p:nvSpPr>
          <p:cNvPr id="19" name="stat 302"/>
          <p:cNvSpPr/>
          <p:nvPr/>
        </p:nvSpPr>
        <p:spPr>
          <a:xfrm>
            <a:off x="9445752" y="5230368"/>
            <a:ext cx="2194560" cy="1051560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PI = 2A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× 100 %: pulsatile AC / DC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Liveness, blinks and head steadiness</a:t>
            </a:r>
            <a:endParaRPr lang="en-US" sz="2600" dirty="0"/>
          </a:p>
        </p:txBody>
      </p:sp>
      <p:sp>
        <p:nvSpPr>
          <p:cNvPr id="3" name="card 303"/>
          <p:cNvSpPr/>
          <p:nvPr/>
        </p:nvSpPr>
        <p:spPr>
          <a:xfrm>
            <a:off x="548640" y="132588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Liveness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Is a living face in front of the camera?</a:t>
            </a:r>
            <a:endParaRPr lang="en-US" sz="1200" dirty="0"/>
          </a:p>
        </p:txBody>
      </p:sp>
      <p:sp>
        <p:nvSpPr>
          <p:cNvPr id="4" name="icon bg 30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aUserCheck 30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720901"/>
            <a:ext cx="261518" cy="261518"/>
          </a:xfrm>
          <a:prstGeom prst="rect">
            <a:avLst/>
          </a:prstGeom>
        </p:spPr>
      </p:pic>
      <p:sp>
        <p:nvSpPr>
          <p:cNvPr id="6" name="card 306"/>
          <p:cNvSpPr/>
          <p:nvPr/>
        </p:nvSpPr>
        <p:spPr>
          <a:xfrm>
            <a:off x="4311396" y="132588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Blink rate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MediaPipe Face Mesh, 478 landmarks</a:t>
            </a:r>
            <a:endParaRPr lang="en-US" sz="1200" dirty="0"/>
          </a:p>
        </p:txBody>
      </p:sp>
      <p:sp>
        <p:nvSpPr>
          <p:cNvPr id="7" name="icon bg 307"/>
          <p:cNvSpPr/>
          <p:nvPr/>
        </p:nvSpPr>
        <p:spPr>
          <a:xfrm>
            <a:off x="4494276" y="160020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FaEye 3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1720901"/>
            <a:ext cx="261518" cy="261518"/>
          </a:xfrm>
          <a:prstGeom prst="rect">
            <a:avLst/>
          </a:prstGeom>
        </p:spPr>
      </p:pic>
      <p:sp>
        <p:nvSpPr>
          <p:cNvPr id="9" name="card 309"/>
          <p:cNvSpPr/>
          <p:nvPr/>
        </p:nvSpPr>
        <p:spPr>
          <a:xfrm>
            <a:off x="8074152" y="132588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Head steadiness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Movement and pose of the head</a:t>
            </a:r>
            <a:endParaRPr lang="en-US" sz="1200" dirty="0"/>
          </a:p>
        </p:txBody>
      </p:sp>
      <p:sp>
        <p:nvSpPr>
          <p:cNvPr id="10" name="icon bg 310"/>
          <p:cNvSpPr/>
          <p:nvPr/>
        </p:nvSpPr>
        <p:spPr>
          <a:xfrm>
            <a:off x="8257032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FaCrosshairs 3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3" y="1720901"/>
            <a:ext cx="261518" cy="261518"/>
          </a:xfrm>
          <a:prstGeom prst="rect">
            <a:avLst/>
          </a:prstGeom>
        </p:spPr>
      </p:pic>
      <p:sp>
        <p:nvSpPr>
          <p:cNvPr id="12" name="stat 312"/>
          <p:cNvSpPr/>
          <p:nvPr/>
        </p:nvSpPr>
        <p:spPr>
          <a:xfrm>
            <a:off x="548640" y="2606040"/>
            <a:ext cx="1719072" cy="137160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13/13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photos → NO PULSE</a:t>
            </a:r>
            <a:endParaRPr lang="en-US" sz="1200" dirty="0"/>
          </a:p>
        </p:txBody>
      </p:sp>
      <p:sp>
        <p:nvSpPr>
          <p:cNvPr id="13" name="stat 313"/>
          <p:cNvSpPr/>
          <p:nvPr/>
        </p:nvSpPr>
        <p:spPr>
          <a:xfrm>
            <a:off x="2395728" y="2606040"/>
            <a:ext cx="1719072" cy="137160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5/5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pulsing faces → LIVE</a:t>
            </a:r>
            <a:endParaRPr lang="en-US" sz="1200" dirty="0"/>
          </a:p>
        </p:txBody>
      </p:sp>
      <p:sp>
        <p:nvSpPr>
          <p:cNvPr id="14" name="card 314"/>
          <p:cNvSpPr/>
          <p:nvPr/>
        </p:nvSpPr>
        <p:spPr>
          <a:xfrm>
            <a:off x="548640" y="420624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203200" tIns="101600" rIns="177800" bIns="1016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LIVE when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skin pulses in phase (evidence ≥ 0.15) or ≥ 2 blinks in 30 s. NO PULSE needs evidence &lt; 0.08 three times and no blinks.</a:t>
            </a:r>
            <a:endParaRPr lang="en-US" sz="1400" dirty="0"/>
          </a:p>
        </p:txBody>
      </p:sp>
      <p:sp>
        <p:nvSpPr>
          <p:cNvPr id="15" name="card 315"/>
          <p:cNvSpPr/>
          <p:nvPr/>
        </p:nvSpPr>
        <p:spPr>
          <a:xfrm>
            <a:off x="4311396" y="2606040"/>
            <a:ext cx="3566160" cy="685800"/>
          </a:xfrm>
          <a:prstGeom prst="roundRect">
            <a:avLst>
              <a:gd name="adj" fmla="val 13333"/>
            </a:avLst>
          </a:prstGeom>
          <a:solidFill>
            <a:schemeClr val="accent6">
              <a:alpha val="12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EAR = ( |p2 − p6| + |p3 − p5| ) / 2|p1 − p4|</a:t>
            </a:r>
            <a:endParaRPr lang="en-US" sz="1400" dirty="0"/>
          </a:p>
        </p:txBody>
      </p:sp>
      <p:sp>
        <p:nvSpPr>
          <p:cNvPr id="16" name="frame 316"/>
          <p:cNvSpPr/>
          <p:nvPr/>
        </p:nvSpPr>
        <p:spPr>
          <a:xfrm>
            <a:off x="4311396" y="3452078"/>
            <a:ext cx="3566160" cy="1142565"/>
          </a:xfrm>
          <a:prstGeom prst="roundRect">
            <a:avLst>
              <a:gd name="adj" fmla="val 6402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Screenshot 2026-10-22 at 8.50.49 PM.png" descr="/Users/pratikkumar/Desktop/SEM5 Projects/SonicVitals/Report/Final Project report and ppt/Images/Screenshot 2026-10-22 at 8.50.49 P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3525230"/>
            <a:ext cx="3419856" cy="996261"/>
          </a:xfrm>
          <a:prstGeom prst="rect">
            <a:avLst/>
          </a:prstGeom>
        </p:spPr>
      </p:pic>
      <p:sp>
        <p:nvSpPr>
          <p:cNvPr id="18" name="stat 317"/>
          <p:cNvSpPr/>
          <p:nvPr/>
        </p:nvSpPr>
        <p:spPr>
          <a:xfrm>
            <a:off x="4311396" y="4800600"/>
            <a:ext cx="3566160" cy="1463040"/>
          </a:xfrm>
          <a:prstGeom prst="roundRect">
            <a:avLst>
              <a:gd name="adj" fmla="val 6250"/>
            </a:avLst>
          </a:prstGeom>
          <a:solidFill>
            <a:schemeClr val="accent6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20 / 20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detected blinks, checked frame by frame, were real (dip ≥ 35 % of median EAR, ≤ 0.5 s)</a:t>
            </a:r>
            <a:endParaRPr lang="en-US" sz="1200" dirty="0"/>
          </a:p>
        </p:txBody>
      </p:sp>
      <p:sp>
        <p:nvSpPr>
          <p:cNvPr id="19" name="card 318"/>
          <p:cNvSpPr/>
          <p:nvPr/>
        </p:nvSpPr>
        <p:spPr>
          <a:xfrm>
            <a:off x="8074152" y="2606040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50800" rIns="1016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&lt; 1.5 %   </a:t>
            </a:r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STEADY</a:t>
            </a:r>
            <a:endParaRPr lang="en-US" sz="1200" dirty="0"/>
          </a:p>
        </p:txBody>
      </p:sp>
      <p:sp>
        <p:nvSpPr>
          <p:cNvPr id="20" name="card 319"/>
          <p:cNvSpPr/>
          <p:nvPr/>
        </p:nvSpPr>
        <p:spPr>
          <a:xfrm>
            <a:off x="8074152" y="3383280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50800" rIns="1016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1.5–4 %   </a:t>
            </a:r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SLIGHT MOVEMENT</a:t>
            </a:r>
            <a:endParaRPr lang="en-US" sz="1200" dirty="0"/>
          </a:p>
        </p:txBody>
      </p:sp>
      <p:sp>
        <p:nvSpPr>
          <p:cNvPr id="21" name="card 320"/>
          <p:cNvSpPr/>
          <p:nvPr/>
        </p:nvSpPr>
        <p:spPr>
          <a:xfrm>
            <a:off x="8074152" y="4160520"/>
            <a:ext cx="3566160" cy="658368"/>
          </a:xfrm>
          <a:prstGeom prst="roundRect">
            <a:avLst>
              <a:gd name="adj" fmla="val 13889"/>
            </a:avLst>
          </a:prstGeom>
          <a:solidFill>
            <a:schemeClr val="accent4">
              <a:alpha val="12000"/>
            </a:schemeClr>
          </a:solidFill>
          <a:ln/>
        </p:spPr>
        <p:txBody>
          <a:bodyPr wrap="square" lIns="177800" tIns="50800" rIns="1016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&gt; 4 %   </a:t>
            </a:r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MOVING</a:t>
            </a:r>
            <a:endParaRPr lang="en-US" sz="1200" dirty="0"/>
          </a:p>
        </p:txBody>
      </p:sp>
      <p:sp>
        <p:nvSpPr>
          <p:cNvPr id="22" name="card 321"/>
          <p:cNvSpPr/>
          <p:nvPr/>
        </p:nvSpPr>
        <p:spPr>
          <a:xfrm>
            <a:off x="8074152" y="4983480"/>
            <a:ext cx="35661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77800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How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RMS of face movement over 10 s as % of face width; yaw, pitch and roll from solvePnP on mesh landmarks. Steadiness also decides when breathing and the map may use the data.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Dashboard: live vitals with their evidence</a:t>
            </a:r>
            <a:endParaRPr lang="en-US" sz="2600" dirty="0"/>
          </a:p>
        </p:txBody>
      </p:sp>
      <p:sp>
        <p:nvSpPr>
          <p:cNvPr id="3" name="frame 322"/>
          <p:cNvSpPr/>
          <p:nvPr/>
        </p:nvSpPr>
        <p:spPr>
          <a:xfrm>
            <a:off x="548640" y="1307868"/>
            <a:ext cx="7086600" cy="3647903"/>
          </a:xfrm>
          <a:prstGeom prst="roundRect">
            <a:avLst>
              <a:gd name="adj" fmla="val 2005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Screenshot 2026-10-22 at 8.26.38 PM.png" descr="/Users/pratikkumar/Desktop/SEM5 Projects/SonicVitals/Report/Final Project report and ppt/Images/Screenshot 2026-10-22 at 8.26.38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81020"/>
            <a:ext cx="6940296" cy="3501599"/>
          </a:xfrm>
          <a:prstGeom prst="rect">
            <a:avLst/>
          </a:prstGeom>
        </p:spPr>
      </p:pic>
      <p:sp>
        <p:nvSpPr>
          <p:cNvPr id="5" name="number 323"/>
          <p:cNvSpPr/>
          <p:nvPr/>
        </p:nvSpPr>
        <p:spPr>
          <a:xfrm>
            <a:off x="658368" y="1463025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number 324"/>
          <p:cNvSpPr/>
          <p:nvPr/>
        </p:nvSpPr>
        <p:spPr>
          <a:xfrm>
            <a:off x="4201668" y="1463025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7" name="number 325"/>
          <p:cNvSpPr/>
          <p:nvPr/>
        </p:nvSpPr>
        <p:spPr>
          <a:xfrm>
            <a:off x="658368" y="3250498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8" name="number 326"/>
          <p:cNvSpPr/>
          <p:nvPr/>
        </p:nvSpPr>
        <p:spPr>
          <a:xfrm>
            <a:off x="4201668" y="3250498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9" name="card 327"/>
          <p:cNvSpPr/>
          <p:nvPr/>
        </p:nvSpPr>
        <p:spPr>
          <a:xfrm>
            <a:off x="7863840" y="1280160"/>
            <a:ext cx="37764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660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Recovered pulse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CHROM, band-passed 0.75–2.5 Hz, z-scored</a:t>
            </a:r>
            <a:endParaRPr lang="en-US" sz="1200" dirty="0"/>
          </a:p>
        </p:txBody>
      </p:sp>
      <p:sp>
        <p:nvSpPr>
          <p:cNvPr id="10" name="number 328"/>
          <p:cNvSpPr/>
          <p:nvPr/>
        </p:nvSpPr>
        <p:spPr>
          <a:xfrm>
            <a:off x="7991856" y="1517904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rd 329"/>
          <p:cNvSpPr/>
          <p:nvPr/>
        </p:nvSpPr>
        <p:spPr>
          <a:xfrm>
            <a:off x="7863840" y="2240280"/>
            <a:ext cx="37764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660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Respiratory waveform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fused breathing signal, 0.1–0.6 Hz</a:t>
            </a:r>
            <a:endParaRPr lang="en-US" sz="1200" dirty="0"/>
          </a:p>
        </p:txBody>
      </p:sp>
      <p:sp>
        <p:nvSpPr>
          <p:cNvPr id="12" name="number 330"/>
          <p:cNvSpPr/>
          <p:nvPr/>
        </p:nvSpPr>
        <p:spPr>
          <a:xfrm>
            <a:off x="7991856" y="2478024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rd 331"/>
          <p:cNvSpPr/>
          <p:nvPr/>
        </p:nvSpPr>
        <p:spPr>
          <a:xfrm>
            <a:off x="7863840" y="3200400"/>
            <a:ext cx="37764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660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Heart-rate history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card value, accepted / rejected estimates, flags</a:t>
            </a:r>
            <a:endParaRPr lang="en-US" sz="1200" dirty="0"/>
          </a:p>
        </p:txBody>
      </p:sp>
      <p:sp>
        <p:nvSpPr>
          <p:cNvPr id="14" name="number 332"/>
          <p:cNvSpPr/>
          <p:nvPr/>
        </p:nvSpPr>
        <p:spPr>
          <a:xfrm>
            <a:off x="7991856" y="3438144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card 333"/>
          <p:cNvSpPr/>
          <p:nvPr/>
        </p:nvSpPr>
        <p:spPr>
          <a:xfrm>
            <a:off x="7863840" y="4160520"/>
            <a:ext cx="377647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660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Quality vs gate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pulse SNR against −2 dB, methods agreeing</a:t>
            </a:r>
            <a:endParaRPr lang="en-US" sz="1200" dirty="0"/>
          </a:p>
        </p:txBody>
      </p:sp>
      <p:sp>
        <p:nvSpPr>
          <p:cNvPr id="16" name="number 334"/>
          <p:cNvSpPr/>
          <p:nvPr/>
        </p:nvSpPr>
        <p:spPr>
          <a:xfrm>
            <a:off x="7991856" y="4398264"/>
            <a:ext cx="384048" cy="384048"/>
          </a:xfrm>
          <a:prstGeom prst="ellipse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card 335"/>
          <p:cNvSpPr/>
          <p:nvPr/>
        </p:nvSpPr>
        <p:spPr>
          <a:xfrm>
            <a:off x="548640" y="5212080"/>
            <a:ext cx="1353312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HEART RATE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consensus, BPM</a:t>
            </a:r>
            <a:endParaRPr lang="en-US" sz="1200" dirty="0"/>
          </a:p>
        </p:txBody>
      </p:sp>
      <p:sp>
        <p:nvSpPr>
          <p:cNvPr id="18" name="card 336"/>
          <p:cNvSpPr/>
          <p:nvPr/>
        </p:nvSpPr>
        <p:spPr>
          <a:xfrm>
            <a:off x="1993392" y="5212080"/>
            <a:ext cx="1353312" cy="1051560"/>
          </a:xfrm>
          <a:prstGeom prst="roundRect">
            <a:avLst>
              <a:gd name="adj" fmla="val 8696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BREATHING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fusion, /min</a:t>
            </a:r>
            <a:endParaRPr lang="en-US" sz="1200" dirty="0"/>
          </a:p>
        </p:txBody>
      </p:sp>
      <p:sp>
        <p:nvSpPr>
          <p:cNvPr id="19" name="card 337"/>
          <p:cNvSpPr/>
          <p:nvPr/>
        </p:nvSpPr>
        <p:spPr>
          <a:xfrm>
            <a:off x="3438144" y="5212080"/>
            <a:ext cx="1353312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HRV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RMSSD, ms</a:t>
            </a:r>
            <a:endParaRPr lang="en-US" sz="1200" dirty="0"/>
          </a:p>
        </p:txBody>
      </p:sp>
      <p:sp>
        <p:nvSpPr>
          <p:cNvPr id="20" name="card 338"/>
          <p:cNvSpPr/>
          <p:nvPr/>
        </p:nvSpPr>
        <p:spPr>
          <a:xfrm>
            <a:off x="4882896" y="5212080"/>
            <a:ext cx="1353312" cy="1051560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QUALITY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peak share, %</a:t>
            </a:r>
            <a:endParaRPr lang="en-US" sz="1200" dirty="0"/>
          </a:p>
        </p:txBody>
      </p:sp>
      <p:sp>
        <p:nvSpPr>
          <p:cNvPr id="21" name="card 339"/>
          <p:cNvSpPr/>
          <p:nvPr/>
        </p:nvSpPr>
        <p:spPr>
          <a:xfrm>
            <a:off x="6327648" y="5212080"/>
            <a:ext cx="1353312" cy="1051560"/>
          </a:xfrm>
          <a:prstGeom prst="roundRect">
            <a:avLst>
              <a:gd name="adj" fmla="val 8696"/>
            </a:avLst>
          </a:prstGeom>
          <a:solidFill>
            <a:schemeClr val="accent6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HR SOURCE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methods used</a:t>
            </a:r>
            <a:endParaRPr lang="en-US" sz="1200" dirty="0"/>
          </a:p>
        </p:txBody>
      </p:sp>
      <p:sp>
        <p:nvSpPr>
          <p:cNvPr id="22" name="card 340"/>
          <p:cNvSpPr/>
          <p:nvPr/>
        </p:nvSpPr>
        <p:spPr>
          <a:xfrm>
            <a:off x="7863840" y="5212080"/>
            <a:ext cx="3776472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152400" tIns="76200" rIns="1270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Every card: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large value and one status badge (green verified, amber estimate, red flag, grey none); the reason is in the tooltip.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Signal Analysis: the engineering view</a:t>
            </a:r>
            <a:endParaRPr lang="en-US" sz="2600" dirty="0"/>
          </a:p>
        </p:txBody>
      </p:sp>
      <p:sp>
        <p:nvSpPr>
          <p:cNvPr id="3" name="frame 341"/>
          <p:cNvSpPr/>
          <p:nvPr/>
        </p:nvSpPr>
        <p:spPr>
          <a:xfrm>
            <a:off x="612554" y="1280160"/>
            <a:ext cx="10963844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Screenshot 2026-10-22 at 8.28.48 PM.png" descr="/Users/pratikkumar/Desktop/SEM5 Projects/SonicVitals/Report/Final Project report and ppt/Images/Screenshot 2026-10-22 at 8.28.48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06" y="1353312"/>
            <a:ext cx="10817540" cy="3099816"/>
          </a:xfrm>
          <a:prstGeom prst="rect">
            <a:avLst/>
          </a:prstGeom>
        </p:spPr>
      </p:pic>
      <p:sp>
        <p:nvSpPr>
          <p:cNvPr id="5" name="card 342"/>
          <p:cNvSpPr/>
          <p:nvPr/>
        </p:nvSpPr>
        <p:spPr>
          <a:xfrm>
            <a:off x="548640" y="4754880"/>
            <a:ext cx="1764792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Cardiac peak f0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CHROM spectrum peak; BPM = 60 × f0</a:t>
            </a:r>
            <a:endParaRPr lang="en-US" sz="1200" dirty="0"/>
          </a:p>
        </p:txBody>
      </p:sp>
      <p:sp>
        <p:nvSpPr>
          <p:cNvPr id="6" name="card 343"/>
          <p:cNvSpPr/>
          <p:nvPr/>
        </p:nvSpPr>
        <p:spPr>
          <a:xfrm>
            <a:off x="2418588" y="4754880"/>
            <a:ext cx="1764792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SNR (de Haan)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f0 and 2f0 power vs rest, dB</a:t>
            </a:r>
            <a:endParaRPr lang="en-US" sz="1200" dirty="0"/>
          </a:p>
        </p:txBody>
      </p:sp>
      <p:sp>
        <p:nvSpPr>
          <p:cNvPr id="7" name="card 344"/>
          <p:cNvSpPr/>
          <p:nvPr/>
        </p:nvSpPr>
        <p:spPr>
          <a:xfrm>
            <a:off x="4288536" y="4754880"/>
            <a:ext cx="1764792" cy="1051560"/>
          </a:xfrm>
          <a:prstGeom prst="roundRect">
            <a:avLst>
              <a:gd name="adj" fmla="val 8696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Spectral concentration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share of band power at the peak</a:t>
            </a:r>
            <a:endParaRPr lang="en-US" sz="1200" dirty="0"/>
          </a:p>
        </p:txBody>
      </p:sp>
      <p:sp>
        <p:nvSpPr>
          <p:cNvPr id="8" name="card 345"/>
          <p:cNvSpPr/>
          <p:nvPr/>
        </p:nvSpPr>
        <p:spPr>
          <a:xfrm>
            <a:off x="6158484" y="4754880"/>
            <a:ext cx="1764792" cy="1051560"/>
          </a:xfrm>
          <a:prstGeom prst="roundRect">
            <a:avLst>
              <a:gd name="adj" fmla="val 8696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Respiration fr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fused breathing rate / 60</a:t>
            </a:r>
            <a:endParaRPr lang="en-US" sz="1200" dirty="0"/>
          </a:p>
        </p:txBody>
      </p:sp>
      <p:sp>
        <p:nvSpPr>
          <p:cNvPr id="9" name="card 346"/>
          <p:cNvSpPr/>
          <p:nvPr/>
        </p:nvSpPr>
        <p:spPr>
          <a:xfrm>
            <a:off x="8028432" y="4754880"/>
            <a:ext cx="1764792" cy="1051560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Methods agreeing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POS, GREEN vs CHROM; % repaired</a:t>
            </a:r>
            <a:endParaRPr lang="en-US" sz="1200" dirty="0"/>
          </a:p>
        </p:txBody>
      </p:sp>
      <p:sp>
        <p:nvSpPr>
          <p:cNvPr id="10" name="card 347"/>
          <p:cNvSpPr/>
          <p:nvPr/>
        </p:nvSpPr>
        <p:spPr>
          <a:xfrm>
            <a:off x="9898380" y="4754880"/>
            <a:ext cx="1764792" cy="1051560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27000" tIns="50800" rIns="762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Video source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camera and measured fps</a:t>
            </a:r>
            <a:endParaRPr lang="en-US" sz="1200" dirty="0"/>
          </a:p>
        </p:txBody>
      </p:sp>
      <p:sp>
        <p:nvSpPr>
          <p:cNvPr id="11" name="chip 348"/>
          <p:cNvSpPr/>
          <p:nvPr/>
        </p:nvSpPr>
        <p:spPr>
          <a:xfrm>
            <a:off x="548640" y="5943600"/>
            <a:ext cx="11091672" cy="384048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Graphs: power spectrum · microphone spectrogram · standardized pulse · moving-average decomposition · skin colour change · method agreement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Diagnostics Studio: colour indices from one sharp frame</a:t>
            </a:r>
            <a:endParaRPr lang="en-US" sz="2600" dirty="0"/>
          </a:p>
        </p:txBody>
      </p:sp>
      <p:sp>
        <p:nvSpPr>
          <p:cNvPr id="3" name="frame 349"/>
          <p:cNvSpPr/>
          <p:nvPr/>
        </p:nvSpPr>
        <p:spPr>
          <a:xfrm>
            <a:off x="548640" y="1292496"/>
            <a:ext cx="2468880" cy="3038568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map_rg.png" descr="/Users/pratikkumar/Desktop/SEM5 Projects/SonicVitals/Report/Final Project report and ppt/build/deck_img/map_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65648"/>
            <a:ext cx="2322576" cy="2892264"/>
          </a:xfrm>
          <a:prstGeom prst="rect">
            <a:avLst/>
          </a:prstGeom>
        </p:spPr>
      </p:pic>
      <p:sp>
        <p:nvSpPr>
          <p:cNvPr id="5" name="chip 350"/>
          <p:cNvSpPr/>
          <p:nvPr/>
        </p:nvSpPr>
        <p:spPr>
          <a:xfrm>
            <a:off x="548640" y="4480560"/>
            <a:ext cx="246888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 − G  ·  redness</a:t>
            </a:r>
            <a:endParaRPr lang="en-US" sz="1100" dirty="0"/>
          </a:p>
        </p:txBody>
      </p:sp>
      <p:sp>
        <p:nvSpPr>
          <p:cNvPr id="6" name="frame 351"/>
          <p:cNvSpPr/>
          <p:nvPr/>
        </p:nvSpPr>
        <p:spPr>
          <a:xfrm>
            <a:off x="3127248" y="1292496"/>
            <a:ext cx="2468880" cy="3038568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map_b.png" descr="/Users/pratikkumar/Desktop/SEM5 Projects/SonicVitals/Report/Final Project report and ppt/build/deck_img/map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65648"/>
            <a:ext cx="2322576" cy="2892264"/>
          </a:xfrm>
          <a:prstGeom prst="rect">
            <a:avLst/>
          </a:prstGeom>
        </p:spPr>
      </p:pic>
      <p:sp>
        <p:nvSpPr>
          <p:cNvPr id="8" name="chip 352"/>
          <p:cNvSpPr/>
          <p:nvPr/>
        </p:nvSpPr>
        <p:spPr>
          <a:xfrm>
            <a:off x="3127248" y="4480560"/>
            <a:ext cx="24688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CIELAB b*  ·  yellowness</a:t>
            </a:r>
            <a:endParaRPr lang="en-US" sz="1100" dirty="0"/>
          </a:p>
        </p:txBody>
      </p:sp>
      <p:sp>
        <p:nvSpPr>
          <p:cNvPr id="9" name="frame 353"/>
          <p:cNvSpPr/>
          <p:nvPr/>
        </p:nvSpPr>
        <p:spPr>
          <a:xfrm>
            <a:off x="5705856" y="1292496"/>
            <a:ext cx="2468880" cy="3038568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map_br.png" descr="/Users/pratikkumar/Desktop/SEM5 Projects/SonicVitals/Report/Final Project report and ppt/build/deck_img/map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365648"/>
            <a:ext cx="2322576" cy="2892264"/>
          </a:xfrm>
          <a:prstGeom prst="rect">
            <a:avLst/>
          </a:prstGeom>
        </p:spPr>
      </p:pic>
      <p:sp>
        <p:nvSpPr>
          <p:cNvPr id="11" name="chip 354"/>
          <p:cNvSpPr/>
          <p:nvPr/>
        </p:nvSpPr>
        <p:spPr>
          <a:xfrm>
            <a:off x="5705856" y="4480560"/>
            <a:ext cx="24688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 / R  ·  blueness</a:t>
            </a:r>
            <a:endParaRPr lang="en-US" sz="1100" dirty="0"/>
          </a:p>
        </p:txBody>
      </p:sp>
      <p:sp>
        <p:nvSpPr>
          <p:cNvPr id="12" name="chip 355"/>
          <p:cNvSpPr/>
          <p:nvPr/>
        </p:nvSpPr>
        <p:spPr>
          <a:xfrm>
            <a:off x="548640" y="512064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Sharpest frame (8 s)</a:t>
            </a:r>
            <a:endParaRPr lang="en-US" sz="1050" dirty="0"/>
          </a:p>
        </p:txBody>
      </p:sp>
      <p:sp>
        <p:nvSpPr>
          <p:cNvPr id="13" name="arrow 356"/>
          <p:cNvSpPr/>
          <p:nvPr/>
        </p:nvSpPr>
        <p:spPr>
          <a:xfrm>
            <a:off x="1929384" y="5285232"/>
            <a:ext cx="164592" cy="21945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4" name="chip 357"/>
          <p:cNvSpPr/>
          <p:nvPr/>
        </p:nvSpPr>
        <p:spPr>
          <a:xfrm>
            <a:off x="2103120" y="512064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5 face regions</a:t>
            </a:r>
            <a:endParaRPr lang="en-US" sz="1050" dirty="0"/>
          </a:p>
        </p:txBody>
      </p:sp>
      <p:sp>
        <p:nvSpPr>
          <p:cNvPr id="15" name="arrow 358"/>
          <p:cNvSpPr/>
          <p:nvPr/>
        </p:nvSpPr>
        <p:spPr>
          <a:xfrm>
            <a:off x="3483864" y="5285232"/>
            <a:ext cx="164592" cy="21945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6" name="chip 359"/>
          <p:cNvSpPr/>
          <p:nvPr/>
        </p:nvSpPr>
        <p:spPr>
          <a:xfrm>
            <a:off x="3657600" y="512064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Colour means</a:t>
            </a:r>
            <a:endParaRPr lang="en-US" sz="1050" dirty="0"/>
          </a:p>
        </p:txBody>
      </p:sp>
      <p:sp>
        <p:nvSpPr>
          <p:cNvPr id="17" name="arrow 360"/>
          <p:cNvSpPr/>
          <p:nvPr/>
        </p:nvSpPr>
        <p:spPr>
          <a:xfrm>
            <a:off x="5038344" y="5285232"/>
            <a:ext cx="164592" cy="21945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18" name="chip 361"/>
          <p:cNvSpPr/>
          <p:nvPr/>
        </p:nvSpPr>
        <p:spPr>
          <a:xfrm>
            <a:off x="5212080" y="512064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Indices</a:t>
            </a:r>
            <a:endParaRPr lang="en-US" sz="1050" dirty="0"/>
          </a:p>
        </p:txBody>
      </p:sp>
      <p:sp>
        <p:nvSpPr>
          <p:cNvPr id="19" name="arrow 362"/>
          <p:cNvSpPr/>
          <p:nvPr/>
        </p:nvSpPr>
        <p:spPr>
          <a:xfrm>
            <a:off x="6592824" y="5285232"/>
            <a:ext cx="164592" cy="219456"/>
          </a:xfrm>
          <a:prstGeom prst="rightArrow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20" name="chip 363"/>
          <p:cNvSpPr/>
          <p:nvPr/>
        </p:nvSpPr>
        <p:spPr>
          <a:xfrm>
            <a:off x="6766560" y="512064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Range check</a:t>
            </a:r>
            <a:endParaRPr lang="en-US" sz="1050" dirty="0"/>
          </a:p>
        </p:txBody>
      </p:sp>
      <p:sp>
        <p:nvSpPr>
          <p:cNvPr id="21" name="chip 364"/>
          <p:cNvSpPr/>
          <p:nvPr/>
        </p:nvSpPr>
        <p:spPr>
          <a:xfrm>
            <a:off x="548640" y="5852160"/>
            <a:ext cx="7498080" cy="41148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Exploratory, uncalibrated software ranges: not a diagnosis</a:t>
            </a:r>
            <a:endParaRPr lang="en-US" sz="1150" dirty="0"/>
          </a:p>
        </p:txBody>
      </p:sp>
      <p:sp>
        <p:nvSpPr>
          <p:cNvPr id="22" name="card 365"/>
          <p:cNvSpPr/>
          <p:nvPr/>
        </p:nvSpPr>
        <p:spPr>
          <a:xfrm>
            <a:off x="8275320" y="1280160"/>
            <a:ext cx="3364992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Erythema EI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100 (log10 R − log10 G), forehead · 8–23</a:t>
            </a:r>
            <a:endParaRPr lang="en-US" sz="1200" dirty="0"/>
          </a:p>
        </p:txBody>
      </p:sp>
      <p:sp>
        <p:nvSpPr>
          <p:cNvPr id="23" name="card 366"/>
          <p:cNvSpPr/>
          <p:nvPr/>
        </p:nvSpPr>
        <p:spPr>
          <a:xfrm>
            <a:off x="8275320" y="2286000"/>
            <a:ext cx="3364992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Pallor PI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(G + B) / 2R, both cheeks · &lt; 0.72</a:t>
            </a:r>
            <a:endParaRPr lang="en-US" sz="1200" dirty="0"/>
          </a:p>
        </p:txBody>
      </p:sp>
      <p:sp>
        <p:nvSpPr>
          <p:cNvPr id="24" name="card 367"/>
          <p:cNvSpPr/>
          <p:nvPr/>
        </p:nvSpPr>
        <p:spPr>
          <a:xfrm>
            <a:off x="8275320" y="3291840"/>
            <a:ext cx="3364992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Eye-band yellow YI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100 (R + G − 2B) / (R + G + B) · &lt; 12</a:t>
            </a:r>
            <a:endParaRPr lang="en-US" sz="1200" dirty="0"/>
          </a:p>
        </p:txBody>
      </p:sp>
      <p:sp>
        <p:nvSpPr>
          <p:cNvPr id="25" name="card 368"/>
          <p:cNvSpPr/>
          <p:nvPr/>
        </p:nvSpPr>
        <p:spPr>
          <a:xfrm>
            <a:off x="8275320" y="4297680"/>
            <a:ext cx="3364992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Lip blue/red CR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B / R, lips · &lt; 0.76</a:t>
            </a:r>
            <a:endParaRPr lang="en-US" sz="1200" dirty="0"/>
          </a:p>
        </p:txBody>
      </p:sp>
      <p:sp>
        <p:nvSpPr>
          <p:cNvPr id="26" name="card 369"/>
          <p:cNvSpPr/>
          <p:nvPr/>
        </p:nvSpPr>
        <p:spPr>
          <a:xfrm>
            <a:off x="8275320" y="5303520"/>
            <a:ext cx="3364992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508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Asymmetry HFI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100 |G left − G right| / sum · &lt; 5 %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04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Results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51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Benchmark accuracy, live operation and impact</a:t>
            </a:r>
            <a:endParaRPr lang="en-US" sz="1800" dirty="0"/>
          </a:p>
        </p:txBody>
      </p:sp>
      <p:sp>
        <p:nvSpPr>
          <p:cNvPr id="5" name="deco circle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0F6A4A">
              <a:alpha val="8000"/>
            </a:srgbClr>
          </a:solidFill>
          <a:ln/>
        </p:spPr>
      </p:sp>
      <p:sp>
        <p:nvSpPr>
          <p:cNvPr id="6" name="deco circle 2"/>
          <p:cNvSpPr/>
          <p:nvPr/>
        </p:nvSpPr>
        <p:spPr>
          <a:xfrm>
            <a:off x="6035040" y="4480560"/>
            <a:ext cx="3108960" cy="3108960"/>
          </a:xfrm>
          <a:prstGeom prst="ellipse">
            <a:avLst/>
          </a:prstGeom>
          <a:solidFill>
            <a:srgbClr val="D98C00">
              <a:alpha val="10000"/>
            </a:srgbClr>
          </a:solidFill>
          <a:ln/>
        </p:spPr>
      </p:sp>
      <p:sp>
        <p:nvSpPr>
          <p:cNvPr id="7" name="frame 370"/>
          <p:cNvSpPr/>
          <p:nvPr/>
        </p:nvSpPr>
        <p:spPr>
          <a:xfrm>
            <a:off x="6217920" y="2219494"/>
            <a:ext cx="5440680" cy="2419012"/>
          </a:xfrm>
          <a:prstGeom prst="roundRect">
            <a:avLst>
              <a:gd name="adj" fmla="val 3024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Screenshot 2026-10-22 at 8.25.48 PM.png" descr="/Users/pratikkumar/Desktop/SEM5 Projects/SonicVitals/Report/Final Project report and ppt/Images/Screenshot 2026-10-22 at 8.25.48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2292646"/>
            <a:ext cx="5294376" cy="22727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Heart-rate accuracy on UBFC-rPPG</a:t>
            </a:r>
            <a:endParaRPr lang="en-US" sz="2600" dirty="0"/>
          </a:p>
        </p:txBody>
      </p:sp>
      <p:sp>
        <p:nvSpPr>
          <p:cNvPr id="3" name="stat 371"/>
          <p:cNvSpPr/>
          <p:nvPr/>
        </p:nvSpPr>
        <p:spPr>
          <a:xfrm>
            <a:off x="5486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1.56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BPM mean absolute error</a:t>
            </a:r>
            <a:endParaRPr lang="en-US" sz="1200" dirty="0"/>
          </a:p>
        </p:txBody>
      </p:sp>
      <p:sp>
        <p:nvSpPr>
          <p:cNvPr id="4" name="stat 372"/>
          <p:cNvSpPr/>
          <p:nvPr/>
        </p:nvSpPr>
        <p:spPr>
          <a:xfrm>
            <a:off x="324612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2.73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BPM root-mean-square error</a:t>
            </a:r>
            <a:endParaRPr lang="en-US" sz="1200" dirty="0"/>
          </a:p>
        </p:txBody>
      </p:sp>
      <p:sp>
        <p:nvSpPr>
          <p:cNvPr id="5" name="stat 373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0.99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Pearson correlation r</a:t>
            </a:r>
            <a:endParaRPr lang="en-US" sz="1200" dirty="0"/>
          </a:p>
        </p:txBody>
      </p:sp>
      <p:sp>
        <p:nvSpPr>
          <p:cNvPr id="6" name="stat 374"/>
          <p:cNvSpPr/>
          <p:nvPr/>
        </p:nvSpPr>
        <p:spPr>
          <a:xfrm>
            <a:off x="324612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accent6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93 %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windows within 5 BPM</a:t>
            </a:r>
            <a:endParaRPr lang="en-US" sz="1200" dirty="0"/>
          </a:p>
        </p:txBody>
      </p:sp>
      <p:sp>
        <p:nvSpPr>
          <p:cNvPr id="7" name="card 375"/>
          <p:cNvSpPr/>
          <p:nvPr/>
        </p:nvSpPr>
        <p:spPr>
          <a:xfrm>
            <a:off x="548640" y="4572000"/>
            <a:ext cx="525780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83210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Protocol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10 subjects, 30 s windows, contact PPG as reference. The quality gate withholds the 19 % hardest windows; about 72 ms of processing per window.</a:t>
            </a:r>
            <a:endParaRPr lang="en-US" sz="1200" dirty="0"/>
          </a:p>
        </p:txBody>
      </p:sp>
      <p:sp>
        <p:nvSpPr>
          <p:cNvPr id="8" name="icon bg 376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aFlask 3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5287061"/>
            <a:ext cx="261518" cy="261518"/>
          </a:xfrm>
          <a:prstGeom prst="rect">
            <a:avLst/>
          </a:prstGeom>
        </p:spPr>
      </p:pic>
      <p:sp>
        <p:nvSpPr>
          <p:cNvPr id="10" name="chart panel 378"/>
          <p:cNvSpPr/>
          <p:nvPr/>
        </p:nvSpPr>
        <p:spPr>
          <a:xfrm>
            <a:off x="6035040" y="1325880"/>
            <a:ext cx="5605272" cy="4937760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chart_benchmark.png" descr="/Users/pratikkumar/Desktop/SEM5 Projects/SonicVitals/Report/Final Project report and ppt/build/deck_img/chart_bench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380744"/>
            <a:ext cx="5495544" cy="4828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Live operation</a:t>
            </a:r>
            <a:endParaRPr lang="en-US" sz="2600" dirty="0"/>
          </a:p>
        </p:txBody>
      </p:sp>
      <p:sp>
        <p:nvSpPr>
          <p:cNvPr id="3" name="stat 379"/>
          <p:cNvSpPr/>
          <p:nvPr/>
        </p:nvSpPr>
        <p:spPr>
          <a:xfrm>
            <a:off x="548640" y="132588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27 fps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processed (was 16.4)</a:t>
            </a:r>
            <a:endParaRPr lang="en-US" sz="1200" dirty="0"/>
          </a:p>
        </p:txBody>
      </p:sp>
      <p:sp>
        <p:nvSpPr>
          <p:cNvPr id="4" name="stat 380"/>
          <p:cNvSpPr/>
          <p:nvPr/>
        </p:nvSpPr>
        <p:spPr>
          <a:xfrm>
            <a:off x="3360420" y="132588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10.6 ms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 frame (was 21.4)</a:t>
            </a:r>
            <a:endParaRPr lang="en-US" sz="1200" dirty="0"/>
          </a:p>
        </p:txBody>
      </p:sp>
      <p:sp>
        <p:nvSpPr>
          <p:cNvPr id="5" name="stat 381"/>
          <p:cNvSpPr/>
          <p:nvPr/>
        </p:nvSpPr>
        <p:spPr>
          <a:xfrm>
            <a:off x="6172200" y="132588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6–7 of 7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methods agree, 76–83 BPM</a:t>
            </a:r>
            <a:endParaRPr lang="en-US" sz="1200" dirty="0"/>
          </a:p>
        </p:txBody>
      </p:sp>
      <p:sp>
        <p:nvSpPr>
          <p:cNvPr id="6" name="stat 382"/>
          <p:cNvSpPr/>
          <p:nvPr/>
        </p:nvSpPr>
        <p:spPr>
          <a:xfrm>
            <a:off x="8983980" y="132588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accent6">
              <a:alpha val="12000"/>
            </a:schemeClr>
          </a:solidFill>
          <a:ln/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18–19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br/min vs 16–20 counted</a:t>
            </a:r>
            <a:endParaRPr lang="en-US" sz="1200" dirty="0"/>
          </a:p>
        </p:txBody>
      </p:sp>
      <p:sp>
        <p:nvSpPr>
          <p:cNvPr id="7" name="chart panel 383"/>
          <p:cNvSpPr/>
          <p:nvPr/>
        </p:nvSpPr>
        <p:spPr>
          <a:xfrm>
            <a:off x="548640" y="2880360"/>
            <a:ext cx="544068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chart_fps.png" descr="/Users/pratikkumar/Desktop/SEM5 Projects/SonicVitals/Report/Final Project report and ppt/build/deck_img/chart_f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935224"/>
            <a:ext cx="5330952" cy="3273552"/>
          </a:xfrm>
          <a:prstGeom prst="rect">
            <a:avLst/>
          </a:prstGeom>
        </p:spPr>
      </p:pic>
      <p:sp>
        <p:nvSpPr>
          <p:cNvPr id="9" name="chart panel 384"/>
          <p:cNvSpPr/>
          <p:nvPr/>
        </p:nvSpPr>
        <p:spPr>
          <a:xfrm>
            <a:off x="6199632" y="2880360"/>
            <a:ext cx="544068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chart_ms.png" descr="/Users/pratikkumar/Desktop/SEM5 Projects/SonicVitals/Report/Final Project report and ppt/build/deck_img/chart_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935224"/>
            <a:ext cx="5330952" cy="3273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Tools and technology</a:t>
            </a:r>
            <a:endParaRPr lang="en-US" sz="2600" dirty="0"/>
          </a:p>
        </p:txBody>
      </p:sp>
      <p:sp>
        <p:nvSpPr>
          <p:cNvPr id="3" name="tool column 385"/>
          <p:cNvSpPr/>
          <p:nvPr/>
        </p:nvSpPr>
        <p:spPr>
          <a:xfrm>
            <a:off x="548640" y="1325880"/>
            <a:ext cx="2651760" cy="4937760"/>
          </a:xfrm>
          <a:prstGeom prst="roundRect">
            <a:avLst>
              <a:gd name="adj" fmla="val 4828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icon bg 386"/>
          <p:cNvSpPr/>
          <p:nvPr/>
        </p:nvSpPr>
        <p:spPr>
          <a:xfrm>
            <a:off x="1508760" y="1554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FaMicrochip 38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325" y="1730045"/>
            <a:ext cx="380390" cy="380390"/>
          </a:xfrm>
          <a:prstGeom prst="rect">
            <a:avLst/>
          </a:prstGeom>
        </p:spPr>
      </p:pic>
      <p:sp>
        <p:nvSpPr>
          <p:cNvPr id="6" name="chip 388"/>
          <p:cNvSpPr/>
          <p:nvPr/>
        </p:nvSpPr>
        <p:spPr>
          <a:xfrm>
            <a:off x="731520" y="2468880"/>
            <a:ext cx="2286000" cy="5029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Firmware</a:t>
            </a:r>
            <a:endParaRPr lang="en-US" sz="1400" dirty="0"/>
          </a:p>
        </p:txBody>
      </p:sp>
      <p:sp>
        <p:nvSpPr>
          <p:cNvPr id="7" name="chip 389"/>
          <p:cNvSpPr/>
          <p:nvPr/>
        </p:nvSpPr>
        <p:spPr>
          <a:xfrm>
            <a:off x="731520" y="320040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Arduino framework</a:t>
            </a:r>
            <a:endParaRPr lang="en-US" sz="1200" dirty="0"/>
          </a:p>
        </p:txBody>
      </p:sp>
      <p:sp>
        <p:nvSpPr>
          <p:cNvPr id="8" name="chip 390"/>
          <p:cNvSpPr/>
          <p:nvPr/>
        </p:nvSpPr>
        <p:spPr>
          <a:xfrm>
            <a:off x="731520" y="393192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PlatformIO</a:t>
            </a:r>
            <a:endParaRPr lang="en-US" sz="1200" dirty="0"/>
          </a:p>
        </p:txBody>
      </p:sp>
      <p:sp>
        <p:nvSpPr>
          <p:cNvPr id="9" name="chip 391"/>
          <p:cNvSpPr/>
          <p:nvPr/>
        </p:nvSpPr>
        <p:spPr>
          <a:xfrm>
            <a:off x="731520" y="466344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FreeRTOS, two cores</a:t>
            </a:r>
            <a:endParaRPr lang="en-US" sz="1200" dirty="0"/>
          </a:p>
        </p:txBody>
      </p:sp>
      <p:sp>
        <p:nvSpPr>
          <p:cNvPr id="10" name="chip 392"/>
          <p:cNvSpPr/>
          <p:nvPr/>
        </p:nvSpPr>
        <p:spPr>
          <a:xfrm>
            <a:off x="731520" y="539496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ESP32 camera driver</a:t>
            </a:r>
            <a:endParaRPr lang="en-US" sz="1200" dirty="0"/>
          </a:p>
        </p:txBody>
      </p:sp>
      <p:sp>
        <p:nvSpPr>
          <p:cNvPr id="11" name="tool column 393"/>
          <p:cNvSpPr/>
          <p:nvPr/>
        </p:nvSpPr>
        <p:spPr>
          <a:xfrm>
            <a:off x="3360420" y="1325880"/>
            <a:ext cx="2651760" cy="4937760"/>
          </a:xfrm>
          <a:prstGeom prst="roundRect">
            <a:avLst>
              <a:gd name="adj" fmla="val 4828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con bg 394"/>
          <p:cNvSpPr/>
          <p:nvPr/>
        </p:nvSpPr>
        <p:spPr>
          <a:xfrm>
            <a:off x="4320540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aWaveSquare 39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105" y="1730045"/>
            <a:ext cx="380390" cy="380390"/>
          </a:xfrm>
          <a:prstGeom prst="rect">
            <a:avLst/>
          </a:prstGeom>
        </p:spPr>
      </p:pic>
      <p:sp>
        <p:nvSpPr>
          <p:cNvPr id="14" name="chip 396"/>
          <p:cNvSpPr/>
          <p:nvPr/>
        </p:nvSpPr>
        <p:spPr>
          <a:xfrm>
            <a:off x="3543300" y="2468880"/>
            <a:ext cx="2286000" cy="502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Signal processing</a:t>
            </a:r>
            <a:endParaRPr lang="en-US" sz="1400" dirty="0"/>
          </a:p>
        </p:txBody>
      </p:sp>
      <p:sp>
        <p:nvSpPr>
          <p:cNvPr id="15" name="chip 397"/>
          <p:cNvSpPr/>
          <p:nvPr/>
        </p:nvSpPr>
        <p:spPr>
          <a:xfrm>
            <a:off x="3543300" y="320040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Python 3.10</a:t>
            </a:r>
            <a:endParaRPr lang="en-US" sz="1200" dirty="0"/>
          </a:p>
        </p:txBody>
      </p:sp>
      <p:sp>
        <p:nvSpPr>
          <p:cNvPr id="16" name="chip 398"/>
          <p:cNvSpPr/>
          <p:nvPr/>
        </p:nvSpPr>
        <p:spPr>
          <a:xfrm>
            <a:off x="3543300" y="393192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NumPy, SciPy</a:t>
            </a:r>
            <a:endParaRPr lang="en-US" sz="1200" dirty="0"/>
          </a:p>
        </p:txBody>
      </p:sp>
      <p:sp>
        <p:nvSpPr>
          <p:cNvPr id="17" name="chip 399"/>
          <p:cNvSpPr/>
          <p:nvPr/>
        </p:nvSpPr>
        <p:spPr>
          <a:xfrm>
            <a:off x="3543300" y="466344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OpenCV</a:t>
            </a:r>
            <a:endParaRPr lang="en-US" sz="1200" dirty="0"/>
          </a:p>
        </p:txBody>
      </p:sp>
      <p:sp>
        <p:nvSpPr>
          <p:cNvPr id="18" name="chip 400"/>
          <p:cNvSpPr/>
          <p:nvPr/>
        </p:nvSpPr>
        <p:spPr>
          <a:xfrm>
            <a:off x="3543300" y="539496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Welch, Butterworth</a:t>
            </a:r>
            <a:endParaRPr lang="en-US" sz="1200" dirty="0"/>
          </a:p>
        </p:txBody>
      </p:sp>
      <p:sp>
        <p:nvSpPr>
          <p:cNvPr id="19" name="tool column 401"/>
          <p:cNvSpPr/>
          <p:nvPr/>
        </p:nvSpPr>
        <p:spPr>
          <a:xfrm>
            <a:off x="6172200" y="1325880"/>
            <a:ext cx="2651760" cy="4937760"/>
          </a:xfrm>
          <a:prstGeom prst="roundRect">
            <a:avLst>
              <a:gd name="adj" fmla="val 4828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icon bg 402"/>
          <p:cNvSpPr/>
          <p:nvPr/>
        </p:nvSpPr>
        <p:spPr>
          <a:xfrm>
            <a:off x="7132320" y="15544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FaRobot 40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885" y="1730045"/>
            <a:ext cx="380390" cy="380390"/>
          </a:xfrm>
          <a:prstGeom prst="rect">
            <a:avLst/>
          </a:prstGeom>
        </p:spPr>
      </p:pic>
      <p:sp>
        <p:nvSpPr>
          <p:cNvPr id="22" name="chip 404"/>
          <p:cNvSpPr/>
          <p:nvPr/>
        </p:nvSpPr>
        <p:spPr>
          <a:xfrm>
            <a:off x="6355080" y="2468880"/>
            <a:ext cx="2286000" cy="5029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models</a:t>
            </a:r>
            <a:endParaRPr lang="en-US" sz="1400" dirty="0"/>
          </a:p>
        </p:txBody>
      </p:sp>
      <p:sp>
        <p:nvSpPr>
          <p:cNvPr id="23" name="chip 405"/>
          <p:cNvSpPr/>
          <p:nvPr/>
        </p:nvSpPr>
        <p:spPr>
          <a:xfrm>
            <a:off x="6355080" y="320040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PyTorch</a:t>
            </a:r>
            <a:endParaRPr lang="en-US" sz="1200" dirty="0"/>
          </a:p>
        </p:txBody>
      </p:sp>
      <p:sp>
        <p:nvSpPr>
          <p:cNvPr id="24" name="chip 406"/>
          <p:cNvSpPr/>
          <p:nvPr/>
        </p:nvSpPr>
        <p:spPr>
          <a:xfrm>
            <a:off x="6355080" y="393192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rPPG-Toolbox weights</a:t>
            </a:r>
            <a:endParaRPr lang="en-US" sz="1200" dirty="0"/>
          </a:p>
        </p:txBody>
      </p:sp>
      <p:sp>
        <p:nvSpPr>
          <p:cNvPr id="25" name="chip 407"/>
          <p:cNvSpPr/>
          <p:nvPr/>
        </p:nvSpPr>
        <p:spPr>
          <a:xfrm>
            <a:off x="6355080" y="466344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TS-CAN, PhysNet, EfficientPhys</a:t>
            </a:r>
            <a:endParaRPr lang="en-US" sz="1200" dirty="0"/>
          </a:p>
        </p:txBody>
      </p:sp>
      <p:sp>
        <p:nvSpPr>
          <p:cNvPr id="26" name="chip 408"/>
          <p:cNvSpPr/>
          <p:nvPr/>
        </p:nvSpPr>
        <p:spPr>
          <a:xfrm>
            <a:off x="6355080" y="539496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MediaPipe Face Mesh</a:t>
            </a:r>
            <a:endParaRPr lang="en-US" sz="1200" dirty="0"/>
          </a:p>
        </p:txBody>
      </p:sp>
      <p:sp>
        <p:nvSpPr>
          <p:cNvPr id="27" name="tool column 409"/>
          <p:cNvSpPr/>
          <p:nvPr/>
        </p:nvSpPr>
        <p:spPr>
          <a:xfrm>
            <a:off x="8983980" y="1325880"/>
            <a:ext cx="2651760" cy="4937760"/>
          </a:xfrm>
          <a:prstGeom prst="roundRect">
            <a:avLst>
              <a:gd name="adj" fmla="val 4828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icon bg 410"/>
          <p:cNvSpPr/>
          <p:nvPr/>
        </p:nvSpPr>
        <p:spPr>
          <a:xfrm>
            <a:off x="994410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FaLaptopCode 4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665" y="1730045"/>
            <a:ext cx="380390" cy="380390"/>
          </a:xfrm>
          <a:prstGeom prst="rect">
            <a:avLst/>
          </a:prstGeom>
        </p:spPr>
      </p:pic>
      <p:sp>
        <p:nvSpPr>
          <p:cNvPr id="30" name="chip 412"/>
          <p:cNvSpPr/>
          <p:nvPr/>
        </p:nvSpPr>
        <p:spPr>
          <a:xfrm>
            <a:off x="9166860" y="2468880"/>
            <a:ext cx="228600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 dashboard</a:t>
            </a:r>
            <a:endParaRPr lang="en-US" sz="1400" dirty="0"/>
          </a:p>
        </p:txBody>
      </p:sp>
      <p:sp>
        <p:nvSpPr>
          <p:cNvPr id="31" name="chip 413"/>
          <p:cNvSpPr/>
          <p:nvPr/>
        </p:nvSpPr>
        <p:spPr>
          <a:xfrm>
            <a:off x="9166860" y="320040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Flask REST API</a:t>
            </a:r>
            <a:endParaRPr lang="en-US" sz="1200" dirty="0"/>
          </a:p>
        </p:txBody>
      </p:sp>
      <p:sp>
        <p:nvSpPr>
          <p:cNvPr id="32" name="chip 414"/>
          <p:cNvSpPr/>
          <p:nvPr/>
        </p:nvSpPr>
        <p:spPr>
          <a:xfrm>
            <a:off x="9166860" y="393192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HTML, CSS, JavaScript</a:t>
            </a:r>
            <a:endParaRPr lang="en-US" sz="1200" dirty="0"/>
          </a:p>
        </p:txBody>
      </p:sp>
      <p:sp>
        <p:nvSpPr>
          <p:cNvPr id="33" name="chip 415"/>
          <p:cNvSpPr/>
          <p:nvPr/>
        </p:nvSpPr>
        <p:spPr>
          <a:xfrm>
            <a:off x="9166860" y="466344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Plotly.js</a:t>
            </a:r>
            <a:endParaRPr lang="en-US" sz="1200" dirty="0"/>
          </a:p>
        </p:txBody>
      </p:sp>
      <p:sp>
        <p:nvSpPr>
          <p:cNvPr id="34" name="chip 416"/>
          <p:cNvSpPr/>
          <p:nvPr/>
        </p:nvSpPr>
        <p:spPr>
          <a:xfrm>
            <a:off x="9166860" y="5394960"/>
            <a:ext cx="228600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</p:spPr>
        <p:txBody>
          <a:bodyPr wrap="square" lIns="101600" tIns="25400" rIns="1016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updates per second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Work plan and team</a:t>
            </a:r>
            <a:endParaRPr lang="en-US" sz="2600" dirty="0"/>
          </a:p>
        </p:txBody>
      </p:sp>
      <p:sp>
        <p:nvSpPr>
          <p:cNvPr id="3" name="timeline"/>
          <p:cNvSpPr/>
          <p:nvPr/>
        </p:nvSpPr>
        <p:spPr>
          <a:xfrm>
            <a:off x="822960" y="2423160"/>
            <a:ext cx="10561320" cy="0"/>
          </a:xfrm>
          <a:prstGeom prst="line">
            <a:avLst/>
          </a:prstGeom>
          <a:noFill/>
          <a:ln w="38100">
            <a:solidFill>
              <a:srgbClr val="0F6A4A"/>
            </a:solidFill>
            <a:prstDash val="solid"/>
          </a:ln>
        </p:spPr>
      </p:sp>
      <p:sp>
        <p:nvSpPr>
          <p:cNvPr id="4" name="number 417"/>
          <p:cNvSpPr/>
          <p:nvPr/>
        </p:nvSpPr>
        <p:spPr>
          <a:xfrm>
            <a:off x="1078992" y="219456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card 418"/>
          <p:cNvSpPr/>
          <p:nvPr/>
        </p:nvSpPr>
        <p:spPr>
          <a:xfrm>
            <a:off x="548640" y="1188720"/>
            <a:ext cx="150876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Jul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Problem, literature, plan</a:t>
            </a:r>
            <a:endParaRPr lang="en-US" sz="1200" dirty="0"/>
          </a:p>
        </p:txBody>
      </p:sp>
      <p:sp>
        <p:nvSpPr>
          <p:cNvPr id="6" name="number 419"/>
          <p:cNvSpPr/>
          <p:nvPr/>
        </p:nvSpPr>
        <p:spPr>
          <a:xfrm>
            <a:off x="2679192" y="219456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card 420"/>
          <p:cNvSpPr/>
          <p:nvPr/>
        </p:nvSpPr>
        <p:spPr>
          <a:xfrm>
            <a:off x="2148840" y="2788920"/>
            <a:ext cx="150876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Aug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Design, components</a:t>
            </a:r>
            <a:endParaRPr lang="en-US" sz="1200" dirty="0"/>
          </a:p>
        </p:txBody>
      </p:sp>
      <p:sp>
        <p:nvSpPr>
          <p:cNvPr id="8" name="number 421"/>
          <p:cNvSpPr/>
          <p:nvPr/>
        </p:nvSpPr>
        <p:spPr>
          <a:xfrm>
            <a:off x="4279392" y="219456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card 422"/>
          <p:cNvSpPr/>
          <p:nvPr/>
        </p:nvSpPr>
        <p:spPr>
          <a:xfrm>
            <a:off x="3749040" y="1188720"/>
            <a:ext cx="150876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Sep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MATLAB rPPG prototype</a:t>
            </a:r>
            <a:endParaRPr lang="en-US" sz="1200" dirty="0"/>
          </a:p>
        </p:txBody>
      </p:sp>
      <p:sp>
        <p:nvSpPr>
          <p:cNvPr id="10" name="number 423"/>
          <p:cNvSpPr/>
          <p:nvPr/>
        </p:nvSpPr>
        <p:spPr>
          <a:xfrm>
            <a:off x="5879592" y="219456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1" name="card 424"/>
          <p:cNvSpPr/>
          <p:nvPr/>
        </p:nvSpPr>
        <p:spPr>
          <a:xfrm>
            <a:off x="5349240" y="2788920"/>
            <a:ext cx="150876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Early Oct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Edge node, firmware, Wi-Fi</a:t>
            </a:r>
            <a:endParaRPr lang="en-US" sz="1200" dirty="0"/>
          </a:p>
        </p:txBody>
      </p:sp>
      <p:sp>
        <p:nvSpPr>
          <p:cNvPr id="12" name="number 425"/>
          <p:cNvSpPr/>
          <p:nvPr/>
        </p:nvSpPr>
        <p:spPr>
          <a:xfrm>
            <a:off x="7479792" y="219456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3" name="card 426"/>
          <p:cNvSpPr/>
          <p:nvPr/>
        </p:nvSpPr>
        <p:spPr>
          <a:xfrm>
            <a:off x="6949440" y="1188720"/>
            <a:ext cx="150876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Mid Oct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Exposure control, UBFC benchmark</a:t>
            </a:r>
            <a:endParaRPr lang="en-US" sz="1200" dirty="0"/>
          </a:p>
        </p:txBody>
      </p:sp>
      <p:sp>
        <p:nvSpPr>
          <p:cNvPr id="14" name="number 427"/>
          <p:cNvSpPr/>
          <p:nvPr/>
        </p:nvSpPr>
        <p:spPr>
          <a:xfrm>
            <a:off x="9079992" y="219456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5" name="card 428"/>
          <p:cNvSpPr/>
          <p:nvPr/>
        </p:nvSpPr>
        <p:spPr>
          <a:xfrm>
            <a:off x="8549640" y="2788920"/>
            <a:ext cx="150876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Late Oct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Consensus, breathing, HRV, insights</a:t>
            </a:r>
            <a:endParaRPr lang="en-US" sz="1200" dirty="0"/>
          </a:p>
        </p:txBody>
      </p:sp>
      <p:sp>
        <p:nvSpPr>
          <p:cNvPr id="16" name="number 429"/>
          <p:cNvSpPr/>
          <p:nvPr/>
        </p:nvSpPr>
        <p:spPr>
          <a:xfrm>
            <a:off x="10680192" y="2194560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7" name="card 430"/>
          <p:cNvSpPr/>
          <p:nvPr/>
        </p:nvSpPr>
        <p:spPr>
          <a:xfrm>
            <a:off x="10149840" y="1188720"/>
            <a:ext cx="150876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Oct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Testing, report, viva</a:t>
            </a:r>
            <a:endParaRPr lang="en-US" sz="1200" dirty="0"/>
          </a:p>
        </p:txBody>
      </p:sp>
      <p:sp>
        <p:nvSpPr>
          <p:cNvPr id="18" name="card 431"/>
          <p:cNvSpPr/>
          <p:nvPr/>
        </p:nvSpPr>
        <p:spPr>
          <a:xfrm>
            <a:off x="548640" y="406908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Janhavee Dhote  ·  24BML0120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Literature survey, UBFC-rPPG benchmark, result analysis, documentation</a:t>
            </a:r>
            <a:endParaRPr lang="en-US" sz="1200" dirty="0"/>
          </a:p>
        </p:txBody>
      </p:sp>
      <p:sp>
        <p:nvSpPr>
          <p:cNvPr id="19" name="icon bg 432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FaUserGraduate 4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4372661"/>
            <a:ext cx="261518" cy="261518"/>
          </a:xfrm>
          <a:prstGeom prst="rect">
            <a:avLst/>
          </a:prstGeom>
        </p:spPr>
      </p:pic>
      <p:sp>
        <p:nvSpPr>
          <p:cNvPr id="21" name="card 434"/>
          <p:cNvSpPr/>
          <p:nvPr/>
        </p:nvSpPr>
        <p:spPr>
          <a:xfrm>
            <a:off x="4311396" y="406908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Pratik Kumar  ·  24BML0027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Signal-processing engine, fusion, breathing, HRV, face insights, dashboard, integration</a:t>
            </a:r>
            <a:endParaRPr lang="en-US" sz="1200" dirty="0"/>
          </a:p>
        </p:txBody>
      </p:sp>
      <p:sp>
        <p:nvSpPr>
          <p:cNvPr id="22" name="icon bg 435"/>
          <p:cNvSpPr/>
          <p:nvPr/>
        </p:nvSpPr>
        <p:spPr>
          <a:xfrm>
            <a:off x="4494276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aUserGraduate 4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4372661"/>
            <a:ext cx="261518" cy="261518"/>
          </a:xfrm>
          <a:prstGeom prst="rect">
            <a:avLst/>
          </a:prstGeom>
        </p:spPr>
      </p:pic>
      <p:sp>
        <p:nvSpPr>
          <p:cNvPr id="24" name="card 437"/>
          <p:cNvSpPr/>
          <p:nvPr/>
        </p:nvSpPr>
        <p:spPr>
          <a:xfrm>
            <a:off x="8074152" y="406908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Uday Krishan Khandelwal  ·  24BML0012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Edge node hardware, ESP32-S3 firmware, camera and microphone interfacing, testing</a:t>
            </a:r>
            <a:endParaRPr lang="en-US" sz="1200" dirty="0"/>
          </a:p>
        </p:txBody>
      </p:sp>
      <p:sp>
        <p:nvSpPr>
          <p:cNvPr id="25" name="icon bg 438"/>
          <p:cNvSpPr/>
          <p:nvPr/>
        </p:nvSpPr>
        <p:spPr>
          <a:xfrm>
            <a:off x="8257032" y="4251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FaUserGraduate 43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3" y="437266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Social and environmental impact</a:t>
            </a:r>
            <a:endParaRPr lang="en-US" sz="2600" dirty="0"/>
          </a:p>
        </p:txBody>
      </p:sp>
      <p:sp>
        <p:nvSpPr>
          <p:cNvPr id="3" name="card 440"/>
          <p:cNvSpPr/>
          <p:nvPr/>
        </p:nvSpPr>
        <p:spPr>
          <a:xfrm>
            <a:off x="548640" y="13258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4C9F38"/>
          </a:solidFill>
          <a:ln/>
        </p:spPr>
        <p:txBody>
          <a:bodyPr wrap="square" lIns="203200" tIns="101600" rIns="127000" bIns="1016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SDG 3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Good health and well-being</a:t>
            </a:r>
            <a:endParaRPr lang="en-US" sz="1200" dirty="0"/>
          </a:p>
        </p:txBody>
      </p:sp>
      <p:sp>
        <p:nvSpPr>
          <p:cNvPr id="4" name="card 441"/>
          <p:cNvSpPr/>
          <p:nvPr/>
        </p:nvSpPr>
        <p:spPr>
          <a:xfrm>
            <a:off x="548640" y="297180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Low-cost contactless screening for homes, clinics and remote care</a:t>
            </a:r>
            <a:endParaRPr lang="en-US" sz="1250" dirty="0"/>
          </a:p>
        </p:txBody>
      </p:sp>
      <p:sp>
        <p:nvSpPr>
          <p:cNvPr id="5" name="card 442"/>
          <p:cNvSpPr/>
          <p:nvPr/>
        </p:nvSpPr>
        <p:spPr>
          <a:xfrm>
            <a:off x="4311396" y="13258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D6925"/>
          </a:solidFill>
          <a:ln/>
        </p:spPr>
        <p:txBody>
          <a:bodyPr wrap="square" lIns="203200" tIns="101600" rIns="127000" bIns="1016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SDG 9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Industry, innovation and infrastructure</a:t>
            </a:r>
            <a:endParaRPr lang="en-US" sz="1200" dirty="0"/>
          </a:p>
        </p:txBody>
      </p:sp>
      <p:sp>
        <p:nvSpPr>
          <p:cNvPr id="6" name="card 443"/>
          <p:cNvSpPr/>
          <p:nvPr/>
        </p:nvSpPr>
        <p:spPr>
          <a:xfrm>
            <a:off x="4311396" y="297180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Open hardware and software built from commodity parts</a:t>
            </a:r>
            <a:endParaRPr lang="en-US" sz="1250" dirty="0"/>
          </a:p>
        </p:txBody>
      </p:sp>
      <p:sp>
        <p:nvSpPr>
          <p:cNvPr id="7" name="card 444"/>
          <p:cNvSpPr/>
          <p:nvPr/>
        </p:nvSpPr>
        <p:spPr>
          <a:xfrm>
            <a:off x="8074152" y="13258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DD1367"/>
          </a:solidFill>
          <a:ln/>
        </p:spPr>
        <p:txBody>
          <a:bodyPr wrap="square" lIns="203200" tIns="101600" rIns="127000" bIns="1016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SDG 10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Reduced inequalities</a:t>
            </a:r>
            <a:endParaRPr lang="en-US" sz="1200" dirty="0"/>
          </a:p>
        </p:txBody>
      </p:sp>
      <p:sp>
        <p:nvSpPr>
          <p:cNvPr id="8" name="card 445"/>
          <p:cNvSpPr/>
          <p:nvPr/>
        </p:nvSpPr>
        <p:spPr>
          <a:xfrm>
            <a:off x="8074152" y="297180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77800" tIns="76200" rIns="1270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specialised medical equipment: a ₹2,150 node and a laptop</a:t>
            </a:r>
            <a:endParaRPr lang="en-US" sz="1250" dirty="0"/>
          </a:p>
        </p:txBody>
      </p:sp>
      <p:sp>
        <p:nvSpPr>
          <p:cNvPr id="9" name="card 446"/>
          <p:cNvSpPr/>
          <p:nvPr/>
        </p:nvSpPr>
        <p:spPr>
          <a:xfrm>
            <a:off x="548640" y="420624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 consumables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 electrodes, gel or probe covers to throw away</a:t>
            </a:r>
            <a:endParaRPr lang="en-US" sz="1200" dirty="0"/>
          </a:p>
        </p:txBody>
      </p:sp>
      <p:sp>
        <p:nvSpPr>
          <p:cNvPr id="10" name="icon bg 447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aRecycle 4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4509821"/>
            <a:ext cx="261518" cy="261518"/>
          </a:xfrm>
          <a:prstGeom prst="rect">
            <a:avLst/>
          </a:prstGeom>
        </p:spPr>
      </p:pic>
      <p:sp>
        <p:nvSpPr>
          <p:cNvPr id="12" name="card 449"/>
          <p:cNvSpPr/>
          <p:nvPr/>
        </p:nvSpPr>
        <p:spPr>
          <a:xfrm>
            <a:off x="4311396" y="420624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Low power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USB-powered node; reuses an existing laptop</a:t>
            </a:r>
            <a:endParaRPr lang="en-US" sz="1200" dirty="0"/>
          </a:p>
        </p:txBody>
      </p:sp>
      <p:sp>
        <p:nvSpPr>
          <p:cNvPr id="13" name="icon bg 450"/>
          <p:cNvSpPr/>
          <p:nvPr/>
        </p:nvSpPr>
        <p:spPr>
          <a:xfrm>
            <a:off x="4494276" y="4389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Leaf 45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4509821"/>
            <a:ext cx="261518" cy="261518"/>
          </a:xfrm>
          <a:prstGeom prst="rect">
            <a:avLst/>
          </a:prstGeom>
        </p:spPr>
      </p:pic>
      <p:sp>
        <p:nvSpPr>
          <p:cNvPr id="15" name="card 452"/>
          <p:cNvSpPr/>
          <p:nvPr/>
        </p:nvSpPr>
        <p:spPr>
          <a:xfrm>
            <a:off x="8074152" y="420624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152400" tIns="795528" rIns="127000" bIns="1016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Repairable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Modular parts can be replaced or reused individually</a:t>
            </a:r>
            <a:endParaRPr lang="en-US" sz="1200" dirty="0"/>
          </a:p>
        </p:txBody>
      </p:sp>
      <p:sp>
        <p:nvSpPr>
          <p:cNvPr id="16" name="icon bg 453"/>
          <p:cNvSpPr/>
          <p:nvPr/>
        </p:nvSpPr>
        <p:spPr>
          <a:xfrm>
            <a:off x="8257032" y="4389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FaCogs 45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3" y="450982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 and future work</a:t>
            </a:r>
            <a:endParaRPr lang="en-US" sz="2600" dirty="0"/>
          </a:p>
        </p:txBody>
      </p:sp>
      <p:sp>
        <p:nvSpPr>
          <p:cNvPr id="3" name="card 455"/>
          <p:cNvSpPr/>
          <p:nvPr/>
        </p:nvSpPr>
        <p:spPr>
          <a:xfrm>
            <a:off x="548640" y="1325880"/>
            <a:ext cx="5440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177800" tIns="50800" rIns="1016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 we achieved</a:t>
            </a:r>
            <a:endParaRPr lang="en-US" sz="1200" dirty="0"/>
          </a:p>
        </p:txBody>
      </p:sp>
      <p:sp>
        <p:nvSpPr>
          <p:cNvPr id="4" name="card 456"/>
          <p:cNvSpPr/>
          <p:nvPr/>
        </p:nvSpPr>
        <p:spPr>
          <a:xfrm>
            <a:off x="548640" y="2011680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 complete low-cost contactless system: edge node, quality-gated engine, explainable dashboard</a:t>
            </a:r>
            <a:endParaRPr lang="en-US" sz="1200" dirty="0"/>
          </a:p>
        </p:txBody>
      </p:sp>
      <p:sp>
        <p:nvSpPr>
          <p:cNvPr id="5" name="icon bg 45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aCheckCircle 4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2384755"/>
            <a:ext cx="213970" cy="213970"/>
          </a:xfrm>
          <a:prstGeom prst="rect">
            <a:avLst/>
          </a:prstGeom>
        </p:spPr>
      </p:pic>
      <p:sp>
        <p:nvSpPr>
          <p:cNvPr id="7" name="card 459"/>
          <p:cNvSpPr/>
          <p:nvPr/>
        </p:nvSpPr>
        <p:spPr>
          <a:xfrm>
            <a:off x="548640" y="3081528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Most accurate method on UBFC-rPPG: MAE 1.56 BPM, r = 0.99</a:t>
            </a:r>
            <a:endParaRPr lang="en-US" sz="1200" dirty="0"/>
          </a:p>
        </p:txBody>
      </p:sp>
      <p:sp>
        <p:nvSpPr>
          <p:cNvPr id="8" name="icon bg 460"/>
          <p:cNvSpPr/>
          <p:nvPr/>
        </p:nvSpPr>
        <p:spPr>
          <a:xfrm>
            <a:off x="731520" y="33558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aCheckCircle 4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" y="3454603"/>
            <a:ext cx="213970" cy="213970"/>
          </a:xfrm>
          <a:prstGeom prst="rect">
            <a:avLst/>
          </a:prstGeom>
        </p:spPr>
      </p:pic>
      <p:sp>
        <p:nvSpPr>
          <p:cNvPr id="10" name="card 462"/>
          <p:cNvSpPr/>
          <p:nvPr/>
        </p:nvSpPr>
        <p:spPr>
          <a:xfrm>
            <a:off x="548640" y="4151376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Real time at about 30 fps with seven methods in consensus</a:t>
            </a:r>
            <a:endParaRPr lang="en-US" sz="1200" dirty="0"/>
          </a:p>
        </p:txBody>
      </p:sp>
      <p:sp>
        <p:nvSpPr>
          <p:cNvPr id="11" name="icon bg 463"/>
          <p:cNvSpPr/>
          <p:nvPr/>
        </p:nvSpPr>
        <p:spPr>
          <a:xfrm>
            <a:off x="731520" y="44256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aCheckCircle 46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4524451"/>
            <a:ext cx="213970" cy="213970"/>
          </a:xfrm>
          <a:prstGeom prst="rect">
            <a:avLst/>
          </a:prstGeom>
        </p:spPr>
      </p:pic>
      <p:sp>
        <p:nvSpPr>
          <p:cNvPr id="13" name="card 465"/>
          <p:cNvSpPr/>
          <p:nvPr/>
        </p:nvSpPr>
        <p:spPr>
          <a:xfrm>
            <a:off x="548640" y="5221224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Breathing, HRV, blood-flow map, liveness, blinks and colour indices from one camera</a:t>
            </a:r>
            <a:endParaRPr lang="en-US" sz="1200" dirty="0"/>
          </a:p>
        </p:txBody>
      </p:sp>
      <p:sp>
        <p:nvSpPr>
          <p:cNvPr id="14" name="icon bg 466"/>
          <p:cNvSpPr/>
          <p:nvPr/>
        </p:nvSpPr>
        <p:spPr>
          <a:xfrm>
            <a:off x="731520" y="549554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aCheckCircle 4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5594299"/>
            <a:ext cx="213970" cy="213970"/>
          </a:xfrm>
          <a:prstGeom prst="rect">
            <a:avLst/>
          </a:prstGeom>
        </p:spPr>
      </p:pic>
      <p:sp>
        <p:nvSpPr>
          <p:cNvPr id="16" name="card 468"/>
          <p:cNvSpPr/>
          <p:nvPr/>
        </p:nvSpPr>
        <p:spPr>
          <a:xfrm>
            <a:off x="6199632" y="1325880"/>
            <a:ext cx="54406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177800" tIns="50800" rIns="1016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17" name="card 469"/>
          <p:cNvSpPr/>
          <p:nvPr/>
        </p:nvSpPr>
        <p:spPr>
          <a:xfrm>
            <a:off x="6199632" y="2011680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Full UBFC, PURE and VIPL-HR benchmark; validation against ECG and oximeter across skin tones</a:t>
            </a:r>
            <a:endParaRPr lang="en-US" sz="1200" dirty="0"/>
          </a:p>
        </p:txBody>
      </p:sp>
      <p:sp>
        <p:nvSpPr>
          <p:cNvPr id="18" name="icon bg 470"/>
          <p:cNvSpPr/>
          <p:nvPr/>
        </p:nvSpPr>
        <p:spPr>
          <a:xfrm>
            <a:off x="6382512" y="22860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FaArrowRight 47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267" y="2384755"/>
            <a:ext cx="213970" cy="213970"/>
          </a:xfrm>
          <a:prstGeom prst="rect">
            <a:avLst/>
          </a:prstGeom>
        </p:spPr>
      </p:pic>
      <p:sp>
        <p:nvSpPr>
          <p:cNvPr id="20" name="card 472"/>
          <p:cNvSpPr/>
          <p:nvPr/>
        </p:nvSpPr>
        <p:spPr>
          <a:xfrm>
            <a:off x="6199632" y="3081528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Stethoscope coupling and validation of the acoustic channel</a:t>
            </a:r>
            <a:endParaRPr lang="en-US" sz="1200" dirty="0"/>
          </a:p>
        </p:txBody>
      </p:sp>
      <p:sp>
        <p:nvSpPr>
          <p:cNvPr id="21" name="icon bg 473"/>
          <p:cNvSpPr/>
          <p:nvPr/>
        </p:nvSpPr>
        <p:spPr>
          <a:xfrm>
            <a:off x="6382512" y="33558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FaArrowRight 47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267" y="3454603"/>
            <a:ext cx="213970" cy="213970"/>
          </a:xfrm>
          <a:prstGeom prst="rect">
            <a:avLst/>
          </a:prstGeom>
        </p:spPr>
      </p:pic>
      <p:sp>
        <p:nvSpPr>
          <p:cNvPr id="23" name="card 475"/>
          <p:cNvSpPr/>
          <p:nvPr/>
        </p:nvSpPr>
        <p:spPr>
          <a:xfrm>
            <a:off x="6199632" y="4151376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Calibrated SpO₂ and infrared illumination for low light</a:t>
            </a:r>
            <a:endParaRPr lang="en-US" sz="1200" dirty="0"/>
          </a:p>
        </p:txBody>
      </p:sp>
      <p:sp>
        <p:nvSpPr>
          <p:cNvPr id="24" name="icon bg 476"/>
          <p:cNvSpPr/>
          <p:nvPr/>
        </p:nvSpPr>
        <p:spPr>
          <a:xfrm>
            <a:off x="6382512" y="4425696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FaArrowRight 47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1267" y="4524451"/>
            <a:ext cx="213970" cy="213970"/>
          </a:xfrm>
          <a:prstGeom prst="rect">
            <a:avLst/>
          </a:prstGeom>
        </p:spPr>
      </p:pic>
      <p:sp>
        <p:nvSpPr>
          <p:cNvPr id="26" name="card 478"/>
          <p:cNvSpPr/>
          <p:nvPr/>
        </p:nvSpPr>
        <p:spPr>
          <a:xfrm>
            <a:off x="6199632" y="5221224"/>
            <a:ext cx="5440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4066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Faster edge video for camera HRV and deep models on the node</a:t>
            </a:r>
            <a:endParaRPr lang="en-US" sz="1200" dirty="0"/>
          </a:p>
        </p:txBody>
      </p:sp>
      <p:sp>
        <p:nvSpPr>
          <p:cNvPr id="27" name="icon bg 479"/>
          <p:cNvSpPr/>
          <p:nvPr/>
        </p:nvSpPr>
        <p:spPr>
          <a:xfrm>
            <a:off x="6382512" y="5495544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FaArrowRight 48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1267" y="5594299"/>
            <a:ext cx="213970" cy="213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6766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Thank you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Questions and discussion</a:t>
            </a:r>
            <a:endParaRPr lang="en-US" sz="1500" dirty="0"/>
          </a:p>
        </p:txBody>
      </p:sp>
      <p:sp>
        <p:nvSpPr>
          <p:cNvPr id="4" name="deco circle"/>
          <p:cNvSpPr/>
          <p:nvPr/>
        </p:nvSpPr>
        <p:spPr>
          <a:xfrm>
            <a:off x="8412480" y="-1371600"/>
            <a:ext cx="4937760" cy="4937760"/>
          </a:xfrm>
          <a:prstGeom prst="ellipse">
            <a:avLst/>
          </a:prstGeom>
          <a:solidFill>
            <a:srgbClr val="0F6A4A">
              <a:alpha val="8000"/>
            </a:srgbClr>
          </a:solidFill>
          <a:ln/>
        </p:spPr>
      </p:sp>
      <p:sp>
        <p:nvSpPr>
          <p:cNvPr id="5" name="frame 481"/>
          <p:cNvSpPr/>
          <p:nvPr/>
        </p:nvSpPr>
        <p:spPr>
          <a:xfrm>
            <a:off x="6309360" y="1335827"/>
            <a:ext cx="5349240" cy="2631865"/>
          </a:xfrm>
          <a:prstGeom prst="roundRect">
            <a:avLst>
              <a:gd name="adj" fmla="val 2779"/>
            </a:avLst>
          </a:prstGeom>
          <a:solidFill>
            <a:schemeClr val="bg1"/>
          </a:solidFill>
          <a:ln w="9525">
            <a:solidFill>
              <a:srgbClr val="E1E3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setup_labeled.png" descr="/Users/pratikkumar/Desktop/SEM5 Projects/SonicVitals/Report/Final Project report and ppt/build/figs/setup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1408979"/>
            <a:ext cx="5202936" cy="2485561"/>
          </a:xfrm>
          <a:prstGeom prst="rect">
            <a:avLst/>
          </a:prstGeom>
        </p:spPr>
      </p:pic>
      <p:sp>
        <p:nvSpPr>
          <p:cNvPr id="7" name="card 482"/>
          <p:cNvSpPr/>
          <p:nvPr/>
        </p:nvSpPr>
        <p:spPr>
          <a:xfrm>
            <a:off x="548640" y="4892040"/>
            <a:ext cx="2615184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Janhavee Dhote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24BML0120</a:t>
            </a:r>
            <a:endParaRPr lang="en-US" sz="1200" dirty="0"/>
          </a:p>
        </p:txBody>
      </p:sp>
      <p:sp>
        <p:nvSpPr>
          <p:cNvPr id="8" name="icon bg 48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aUserGraduate 4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390388"/>
            <a:ext cx="237744" cy="237744"/>
          </a:xfrm>
          <a:prstGeom prst="rect">
            <a:avLst/>
          </a:prstGeom>
        </p:spPr>
      </p:pic>
      <p:sp>
        <p:nvSpPr>
          <p:cNvPr id="10" name="card 485"/>
          <p:cNvSpPr/>
          <p:nvPr/>
        </p:nvSpPr>
        <p:spPr>
          <a:xfrm>
            <a:off x="3346704" y="4892040"/>
            <a:ext cx="2615184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Pratik Kumar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24BML0027</a:t>
            </a:r>
            <a:endParaRPr lang="en-US" sz="1200" dirty="0"/>
          </a:p>
        </p:txBody>
      </p:sp>
      <p:sp>
        <p:nvSpPr>
          <p:cNvPr id="11" name="icon bg 486"/>
          <p:cNvSpPr/>
          <p:nvPr/>
        </p:nvSpPr>
        <p:spPr>
          <a:xfrm>
            <a:off x="3529584" y="5280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aUserGraduate 48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5390388"/>
            <a:ext cx="237744" cy="237744"/>
          </a:xfrm>
          <a:prstGeom prst="rect">
            <a:avLst/>
          </a:prstGeom>
        </p:spPr>
      </p:pic>
      <p:sp>
        <p:nvSpPr>
          <p:cNvPr id="13" name="card 488"/>
          <p:cNvSpPr/>
          <p:nvPr/>
        </p:nvSpPr>
        <p:spPr>
          <a:xfrm>
            <a:off x="6144768" y="4892040"/>
            <a:ext cx="2615184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Uday Krishan Khandelwal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24BML0012</a:t>
            </a:r>
            <a:endParaRPr lang="en-US" sz="1200" dirty="0"/>
          </a:p>
        </p:txBody>
      </p:sp>
      <p:sp>
        <p:nvSpPr>
          <p:cNvPr id="14" name="icon bg 489"/>
          <p:cNvSpPr/>
          <p:nvPr/>
        </p:nvSpPr>
        <p:spPr>
          <a:xfrm>
            <a:off x="6327648" y="5280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aUserGraduate 49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5390388"/>
            <a:ext cx="237744" cy="237744"/>
          </a:xfrm>
          <a:prstGeom prst="rect">
            <a:avLst/>
          </a:prstGeom>
        </p:spPr>
      </p:pic>
      <p:sp>
        <p:nvSpPr>
          <p:cNvPr id="16" name="card 491"/>
          <p:cNvSpPr/>
          <p:nvPr/>
        </p:nvSpPr>
        <p:spPr>
          <a:xfrm>
            <a:off x="8942832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E1E3DB"/>
            </a:solidFill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lIns="786384" tIns="76200" rIns="1270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Guide: Jeeva J. B.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School of Electronics Engineering (SENSE), VIT</a:t>
            </a:r>
            <a:endParaRPr lang="en-US" sz="1200" dirty="0"/>
          </a:p>
        </p:txBody>
      </p:sp>
      <p:sp>
        <p:nvSpPr>
          <p:cNvPr id="17" name="icon bg 492"/>
          <p:cNvSpPr/>
          <p:nvPr/>
        </p:nvSpPr>
        <p:spPr>
          <a:xfrm>
            <a:off x="9125712" y="52806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FaChalkboardTeacher 49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539038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nicVitals Light">
  <a:themeElements>
    <a:clrScheme name="SonicVitals Light">
      <a:dk1>
        <a:srgbClr val="1F2A24"/>
      </a:dk1>
      <a:lt1>
        <a:srgbClr val="FFFFFF"/>
      </a:lt1>
      <a:dk2>
        <a:srgbClr val="0F6A4A"/>
      </a:dk2>
      <a:lt2>
        <a:srgbClr val="F6F7F2"/>
      </a:lt2>
      <a:accent1>
        <a:srgbClr val="0F6A4A"/>
      </a:accent1>
      <a:accent2>
        <a:srgbClr val="D98C00"/>
      </a:accent2>
      <a:accent3>
        <a:srgbClr val="2E86C1"/>
      </a:accent3>
      <a:accent4>
        <a:srgbClr val="B85430"/>
      </a:accent4>
      <a:accent5>
        <a:srgbClr val="6E6E66"/>
      </a:accent5>
      <a:accent6>
        <a:srgbClr val="7B5EA7"/>
      </a:accent6>
      <a:hlink>
        <a:srgbClr val="2E86C1"/>
      </a:hlink>
      <a:folHlink>
        <a:srgbClr val="6E6E66"/>
      </a:folHlink>
    </a:clrScheme>
    <a:fontScheme name="SonicVitals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SonicVitals</dc:title>
  <dc:subject>PptxGenJS Presentation</dc:subject>
  <dc:creator>Janhavee Dhote, Pratik Kumar, Uday Krishan Khandelwal</dc:creator>
  <cp:lastModifiedBy>Janhavee Dhote, Pratik Kumar, Uday Krishan Khandelwal</cp:lastModifiedBy>
  <cp:revision>1</cp:revision>
  <dcterms:created xsi:type="dcterms:W3CDTF">2026-10-22T19:53:04Z</dcterms:created>
  <dcterms:modified xsi:type="dcterms:W3CDTF">2026-10-22T19:53:04Z</dcterms:modified>
</cp:coreProperties>
</file>